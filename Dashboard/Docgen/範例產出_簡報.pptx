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DGM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486" r:id="rId3"/>
    <p:sldId id="3772" r:id="rId4"/>
    <p:sldId id="3681" r:id="rId5"/>
    <p:sldId id="3758" r:id="rId6"/>
    <p:sldId id="3775" r:id="rId16"/>
    <p:sldId id="3759" r:id="rId7"/>
    <p:sldId id="3763" r:id="rId8"/>
    <p:sldId id="3771" r:id="rId9"/>
    <p:sldId id="3757" r:id="rId10"/>
  </p:sldIdLst>
  <p:sldSz cx="12192000" cy="6858000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2155"/>
    <a:srgbClr val="FC00D8"/>
    <a:srgbClr val="9E48B8"/>
    <a:srgbClr val="FE0094"/>
    <a:srgbClr val="E1003B"/>
    <a:srgbClr val="597EC7"/>
    <a:srgbClr val="CC0000"/>
    <a:srgbClr val="FF0000"/>
    <a:srgbClr val="CC181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71612" autoAdjust="0"/>
  </p:normalViewPr>
  <p:slideViewPr>
    <p:cSldViewPr>
      <p:cViewPr varScale="1">
        <p:scale>
          <a:sx n="77" d="100"/>
          <a:sy n="77" d="100"/>
        </p:scale>
        <p:origin x="172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6540"/>
    </p:cViewPr>
  </p:sorterViewPr>
  <p:notesViewPr>
    <p:cSldViewPr>
      <p:cViewPr varScale="1">
        <p:scale>
          <a:sx n="54" d="100"/>
          <a:sy n="54" d="100"/>
        </p:scale>
        <p:origin x="-292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Relationship Id="rId16" Type="http://schemas.openxmlformats.org/officeDocument/2006/relationships/slide" Target="slides/slideDGM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CC4058-3987-46EF-93EC-0CF8A6E0086E}" type="doc">
      <dgm:prSet loTypeId="urn:microsoft.com/office/officeart/2005/8/layout/chevron1" loCatId="process" qsTypeId="urn:microsoft.com/office/officeart/2005/8/quickstyle/simple4" qsCatId="simple" csTypeId="urn:microsoft.com/office/officeart/2005/8/colors/accent1_2" csCatId="accent1" phldr="1"/>
      <dgm:spPr/>
    </dgm:pt>
    <dgm:pt modelId="{C8904FDE-7BC3-407C-A2C4-9DC6D971B533}">
      <dgm:prSet phldrT="[文字]"/>
      <dgm:spPr/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3D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設計</a:t>
          </a:r>
        </a:p>
      </dgm:t>
    </dgm:pt>
    <dgm:pt modelId="{15ECC425-452D-4467-9CB3-C784EC2A0E1B}" type="parTrans" cxnId="{C69042DA-7A92-463C-A67E-D32EF4B32328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66F8C5C-4CCD-48C5-BD67-7F8C88A0A35C}" type="sibTrans" cxnId="{C69042DA-7A92-463C-A67E-D32EF4B32328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1D20B9A-8E1F-45C6-8D79-D92F99742CCF}">
      <dgm:prSet phldrT="[文字]"/>
      <dgm:spPr/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2D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工程圖</a:t>
          </a:r>
        </a:p>
      </dgm:t>
    </dgm:pt>
    <dgm:pt modelId="{1C0AC741-7653-43A5-A24D-52C42F4E9CCC}" type="parTrans" cxnId="{DE914412-95BE-450A-B266-D658E2E7E2BD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D7D2B8A-FD10-493B-A947-935BADC583D0}" type="sibTrans" cxnId="{DE914412-95BE-450A-B266-D658E2E7E2BD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488B8883-CFD9-41BD-9E62-290ACE88E09E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開模</a:t>
          </a:r>
        </a:p>
      </dgm:t>
    </dgm:pt>
    <dgm:pt modelId="{CA9DBA68-D578-4E76-BEC9-98823004F877}" type="parTrans" cxnId="{DA88BEA3-7F3E-4FE8-B1A6-F7B39B29A970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181D3F24-7E5C-46D9-AD62-14E49FE0C40B}" type="sibTrans" cxnId="{DA88BEA3-7F3E-4FE8-B1A6-F7B39B29A970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1A600AC-3739-425C-A68C-3AF55465D846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品檢</a:t>
          </a:r>
        </a:p>
      </dgm:t>
    </dgm:pt>
    <dgm:pt modelId="{13EBAEF1-0E8C-41CB-BCDE-36CFEB93ADD5}" type="parTrans" cxnId="{74B724B1-E771-40BF-B70A-97BEC391B666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DC9740-5BCC-48C7-BFF1-8CE863D9F74D}" type="sibTrans" cxnId="{74B724B1-E771-40BF-B70A-97BEC391B666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8051F55A-CA9D-4340-A3ED-D8FC7BFBC34D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二次加工</a:t>
          </a:r>
        </a:p>
      </dgm:t>
    </dgm:pt>
    <dgm:pt modelId="{8750B646-EE17-41DE-8C8E-131764921A2A}" type="parTrans" cxnId="{475BD277-3134-4C2E-94E1-1A716643D163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F1819986-B2F3-4FF7-903D-CE511BEDC17F}" type="sibTrans" cxnId="{475BD277-3134-4C2E-94E1-1A716643D163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B9D4C38-F599-4348-9AD2-13392A2561F8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出貨</a:t>
          </a:r>
        </a:p>
      </dgm:t>
    </dgm:pt>
    <dgm:pt modelId="{CDCFD91D-EAB9-47C1-B139-04E9F12B4B37}" type="parTrans" cxnId="{3C2BD90E-32AD-45E4-B0F5-8035179AA34E}">
      <dgm:prSet/>
      <dgm:spPr/>
      <dgm:t>
        <a:bodyPr/>
        <a:lstStyle/>
        <a:p>
          <a:endParaRPr lang="zh-TW" altLang="en-US" b="1"/>
        </a:p>
      </dgm:t>
    </dgm:pt>
    <dgm:pt modelId="{66AD2AF4-08AA-4301-B730-03A6319781B2}" type="sibTrans" cxnId="{3C2BD90E-32AD-45E4-B0F5-8035179AA34E}">
      <dgm:prSet/>
      <dgm:spPr/>
      <dgm:t>
        <a:bodyPr/>
        <a:lstStyle/>
        <a:p>
          <a:endParaRPr lang="zh-TW" altLang="en-US" b="1"/>
        </a:p>
      </dgm:t>
    </dgm:pt>
    <dgm:pt modelId="{CEA8FB83-01E2-4A96-BEB9-E7553A5F4CCA}" type="pres">
      <dgm:prSet presAssocID="{71CC4058-3987-46EF-93EC-0CF8A6E0086E}" presName="Name0" presStyleCnt="0">
        <dgm:presLayoutVars>
          <dgm:dir/>
          <dgm:animLvl val="lvl"/>
          <dgm:resizeHandles val="exact"/>
        </dgm:presLayoutVars>
      </dgm:prSet>
      <dgm:spPr/>
    </dgm:pt>
    <dgm:pt modelId="{45C87759-A6EA-4981-ABCF-34B12D378000}" type="pres">
      <dgm:prSet presAssocID="{C8904FDE-7BC3-407C-A2C4-9DC6D971B533}" presName="parTxOnly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D19B8ABC-3BDB-4060-B586-980DA18215EA}" type="pres">
      <dgm:prSet presAssocID="{766F8C5C-4CCD-48C5-BD67-7F8C88A0A35C}" presName="parTxOnlySpace" presStyleCnt="0"/>
      <dgm:spPr/>
    </dgm:pt>
    <dgm:pt modelId="{3655D217-9120-4E9D-8106-607472412B90}" type="pres">
      <dgm:prSet presAssocID="{51D20B9A-8E1F-45C6-8D79-D92F99742CCF}" presName="parTxOnly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28801D76-300F-4599-A4E4-5126AA36468E}" type="pres">
      <dgm:prSet presAssocID="{5D7D2B8A-FD10-493B-A947-935BADC583D0}" presName="parTxOnlySpace" presStyleCnt="0"/>
      <dgm:spPr/>
    </dgm:pt>
    <dgm:pt modelId="{7D0DF6BA-A9E1-4969-8308-21F5AE8BD866}" type="pres">
      <dgm:prSet presAssocID="{488B8883-CFD9-41BD-9E62-290ACE88E09E}" presName="parTxOnly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6FAF0ED7-8222-4492-B6E6-DD75608B6AD2}" type="pres">
      <dgm:prSet presAssocID="{181D3F24-7E5C-46D9-AD62-14E49FE0C40B}" presName="parTxOnlySpace" presStyleCnt="0"/>
      <dgm:spPr/>
    </dgm:pt>
    <dgm:pt modelId="{4C485225-8F01-4C0F-9B7A-99445678FC72}" type="pres">
      <dgm:prSet presAssocID="{8051F55A-CA9D-4340-A3ED-D8FC7BFBC34D}" presName="parTxOnly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C7D324C9-7A1B-4C28-A718-7FF97D12B4C3}" type="pres">
      <dgm:prSet presAssocID="{F1819986-B2F3-4FF7-903D-CE511BEDC17F}" presName="parTxOnlySpace" presStyleCnt="0"/>
      <dgm:spPr/>
    </dgm:pt>
    <dgm:pt modelId="{6C83BE08-12BE-4C47-BD90-D4AF337758B2}" type="pres">
      <dgm:prSet presAssocID="{B1A600AC-3739-425C-A68C-3AF55465D846}" presName="parTxOnly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4BA12721-A58B-40AD-82CA-2AFE4F9FC14E}" type="pres">
      <dgm:prSet presAssocID="{0FDC9740-5BCC-48C7-BFF1-8CE863D9F74D}" presName="parTxOnlySpace" presStyleCnt="0"/>
      <dgm:spPr/>
    </dgm:pt>
    <dgm:pt modelId="{92899A32-3B80-4430-BBFF-9CAD84B72B8E}" type="pres">
      <dgm:prSet presAssocID="{0B9D4C38-F599-4348-9AD2-13392A2561F8}" presName="parTxOnly" presStyleLbl="node1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FB788E0A-7DB5-4C6E-9775-722907D0E5A0}" type="presOf" srcId="{71CC4058-3987-46EF-93EC-0CF8A6E0086E}" destId="{CEA8FB83-01E2-4A96-BEB9-E7553A5F4CCA}" srcOrd="0" destOrd="0" presId="urn:microsoft.com/office/officeart/2005/8/layout/chevron1"/>
    <dgm:cxn modelId="{3C2BD90E-32AD-45E4-B0F5-8035179AA34E}" srcId="{71CC4058-3987-46EF-93EC-0CF8A6E0086E}" destId="{0B9D4C38-F599-4348-9AD2-13392A2561F8}" srcOrd="5" destOrd="0" parTransId="{CDCFD91D-EAB9-47C1-B139-04E9F12B4B37}" sibTransId="{66AD2AF4-08AA-4301-B730-03A6319781B2}"/>
    <dgm:cxn modelId="{DE914412-95BE-450A-B266-D658E2E7E2BD}" srcId="{71CC4058-3987-46EF-93EC-0CF8A6E0086E}" destId="{51D20B9A-8E1F-45C6-8D79-D92F99742CCF}" srcOrd="1" destOrd="0" parTransId="{1C0AC741-7653-43A5-A24D-52C42F4E9CCC}" sibTransId="{5D7D2B8A-FD10-493B-A947-935BADC583D0}"/>
    <dgm:cxn modelId="{70BC7176-539B-4704-83B4-674F477B4DEA}" type="presOf" srcId="{488B8883-CFD9-41BD-9E62-290ACE88E09E}" destId="{7D0DF6BA-A9E1-4969-8308-21F5AE8BD866}" srcOrd="0" destOrd="0" presId="urn:microsoft.com/office/officeart/2005/8/layout/chevron1"/>
    <dgm:cxn modelId="{757BD456-C66D-4339-9CE0-238180647783}" type="presOf" srcId="{B1A600AC-3739-425C-A68C-3AF55465D846}" destId="{6C83BE08-12BE-4C47-BD90-D4AF337758B2}" srcOrd="0" destOrd="0" presId="urn:microsoft.com/office/officeart/2005/8/layout/chevron1"/>
    <dgm:cxn modelId="{475BD277-3134-4C2E-94E1-1A716643D163}" srcId="{71CC4058-3987-46EF-93EC-0CF8A6E0086E}" destId="{8051F55A-CA9D-4340-A3ED-D8FC7BFBC34D}" srcOrd="3" destOrd="0" parTransId="{8750B646-EE17-41DE-8C8E-131764921A2A}" sibTransId="{F1819986-B2F3-4FF7-903D-CE511BEDC17F}"/>
    <dgm:cxn modelId="{DCA7D358-A6CD-40B1-943D-D2C70F60D7D0}" type="presOf" srcId="{8051F55A-CA9D-4340-A3ED-D8FC7BFBC34D}" destId="{4C485225-8F01-4C0F-9B7A-99445678FC72}" srcOrd="0" destOrd="0" presId="urn:microsoft.com/office/officeart/2005/8/layout/chevron1"/>
    <dgm:cxn modelId="{633E909D-5B11-4B37-B328-6C98F086D779}" type="presOf" srcId="{51D20B9A-8E1F-45C6-8D79-D92F99742CCF}" destId="{3655D217-9120-4E9D-8106-607472412B90}" srcOrd="0" destOrd="0" presId="urn:microsoft.com/office/officeart/2005/8/layout/chevron1"/>
    <dgm:cxn modelId="{6B28D99D-3820-4C70-84A2-4A9876F12FC8}" type="presOf" srcId="{C8904FDE-7BC3-407C-A2C4-9DC6D971B533}" destId="{45C87759-A6EA-4981-ABCF-34B12D378000}" srcOrd="0" destOrd="0" presId="urn:microsoft.com/office/officeart/2005/8/layout/chevron1"/>
    <dgm:cxn modelId="{DA88BEA3-7F3E-4FE8-B1A6-F7B39B29A970}" srcId="{71CC4058-3987-46EF-93EC-0CF8A6E0086E}" destId="{488B8883-CFD9-41BD-9E62-290ACE88E09E}" srcOrd="2" destOrd="0" parTransId="{CA9DBA68-D578-4E76-BEC9-98823004F877}" sibTransId="{181D3F24-7E5C-46D9-AD62-14E49FE0C40B}"/>
    <dgm:cxn modelId="{74B724B1-E771-40BF-B70A-97BEC391B666}" srcId="{71CC4058-3987-46EF-93EC-0CF8A6E0086E}" destId="{B1A600AC-3739-425C-A68C-3AF55465D846}" srcOrd="4" destOrd="0" parTransId="{13EBAEF1-0E8C-41CB-BCDE-36CFEB93ADD5}" sibTransId="{0FDC9740-5BCC-48C7-BFF1-8CE863D9F74D}"/>
    <dgm:cxn modelId="{537B5DCA-85F0-459D-AF89-EAE48EA13017}" type="presOf" srcId="{0B9D4C38-F599-4348-9AD2-13392A2561F8}" destId="{92899A32-3B80-4430-BBFF-9CAD84B72B8E}" srcOrd="0" destOrd="0" presId="urn:microsoft.com/office/officeart/2005/8/layout/chevron1"/>
    <dgm:cxn modelId="{C69042DA-7A92-463C-A67E-D32EF4B32328}" srcId="{71CC4058-3987-46EF-93EC-0CF8A6E0086E}" destId="{C8904FDE-7BC3-407C-A2C4-9DC6D971B533}" srcOrd="0" destOrd="0" parTransId="{15ECC425-452D-4467-9CB3-C784EC2A0E1B}" sibTransId="{766F8C5C-4CCD-48C5-BD67-7F8C88A0A35C}"/>
    <dgm:cxn modelId="{9E1CABAF-384A-4DA6-8BC2-9B3D6E50F0A5}" type="presParOf" srcId="{CEA8FB83-01E2-4A96-BEB9-E7553A5F4CCA}" destId="{45C87759-A6EA-4981-ABCF-34B12D378000}" srcOrd="0" destOrd="0" presId="urn:microsoft.com/office/officeart/2005/8/layout/chevron1"/>
    <dgm:cxn modelId="{E64BDF0C-05D9-4585-8654-B4813C8138DB}" type="presParOf" srcId="{CEA8FB83-01E2-4A96-BEB9-E7553A5F4CCA}" destId="{D19B8ABC-3BDB-4060-B586-980DA18215EA}" srcOrd="1" destOrd="0" presId="urn:microsoft.com/office/officeart/2005/8/layout/chevron1"/>
    <dgm:cxn modelId="{CAFE2674-AFF9-469D-98FE-CF7A561DA875}" type="presParOf" srcId="{CEA8FB83-01E2-4A96-BEB9-E7553A5F4CCA}" destId="{3655D217-9120-4E9D-8106-607472412B90}" srcOrd="2" destOrd="0" presId="urn:microsoft.com/office/officeart/2005/8/layout/chevron1"/>
    <dgm:cxn modelId="{0A7DE112-9C13-47B3-AEB5-F99C8D4269BD}" type="presParOf" srcId="{CEA8FB83-01E2-4A96-BEB9-E7553A5F4CCA}" destId="{28801D76-300F-4599-A4E4-5126AA36468E}" srcOrd="3" destOrd="0" presId="urn:microsoft.com/office/officeart/2005/8/layout/chevron1"/>
    <dgm:cxn modelId="{EE4A77A6-3750-44B4-B978-0D6A2BEFCDB9}" type="presParOf" srcId="{CEA8FB83-01E2-4A96-BEB9-E7553A5F4CCA}" destId="{7D0DF6BA-A9E1-4969-8308-21F5AE8BD866}" srcOrd="4" destOrd="0" presId="urn:microsoft.com/office/officeart/2005/8/layout/chevron1"/>
    <dgm:cxn modelId="{65123CF0-46FA-4368-92BE-E9F00AA6ABE2}" type="presParOf" srcId="{CEA8FB83-01E2-4A96-BEB9-E7553A5F4CCA}" destId="{6FAF0ED7-8222-4492-B6E6-DD75608B6AD2}" srcOrd="5" destOrd="0" presId="urn:microsoft.com/office/officeart/2005/8/layout/chevron1"/>
    <dgm:cxn modelId="{7087982E-CC50-40A4-AF68-D97728AB6746}" type="presParOf" srcId="{CEA8FB83-01E2-4A96-BEB9-E7553A5F4CCA}" destId="{4C485225-8F01-4C0F-9B7A-99445678FC72}" srcOrd="6" destOrd="0" presId="urn:microsoft.com/office/officeart/2005/8/layout/chevron1"/>
    <dgm:cxn modelId="{CA8258AA-46C9-4358-AAEC-8AE1CFB165A1}" type="presParOf" srcId="{CEA8FB83-01E2-4A96-BEB9-E7553A5F4CCA}" destId="{C7D324C9-7A1B-4C28-A718-7FF97D12B4C3}" srcOrd="7" destOrd="0" presId="urn:microsoft.com/office/officeart/2005/8/layout/chevron1"/>
    <dgm:cxn modelId="{0A9AD10F-6269-4DC2-9DAE-854991B2A31E}" type="presParOf" srcId="{CEA8FB83-01E2-4A96-BEB9-E7553A5F4CCA}" destId="{6C83BE08-12BE-4C47-BD90-D4AF337758B2}" srcOrd="8" destOrd="0" presId="urn:microsoft.com/office/officeart/2005/8/layout/chevron1"/>
    <dgm:cxn modelId="{B27C9299-A73F-450B-97A8-04FCAD99373D}" type="presParOf" srcId="{CEA8FB83-01E2-4A96-BEB9-E7553A5F4CCA}" destId="{4BA12721-A58B-40AD-82CA-2AFE4F9FC14E}" srcOrd="9" destOrd="0" presId="urn:microsoft.com/office/officeart/2005/8/layout/chevron1"/>
    <dgm:cxn modelId="{0A389034-F074-4805-9D1B-4D17D7CA88A3}" type="presParOf" srcId="{CEA8FB83-01E2-4A96-BEB9-E7553A5F4CCA}" destId="{92899A32-3B80-4430-BBFF-9CAD84B72B8E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CC4058-3987-46EF-93EC-0CF8A6E0086E}" type="doc">
      <dgm:prSet loTypeId="urn:microsoft.com/office/officeart/2005/8/layout/chevron1" loCatId="process" qsTypeId="urn:microsoft.com/office/officeart/2005/8/quickstyle/simple4" qsCatId="simple" csTypeId="urn:microsoft.com/office/officeart/2005/8/colors/accent1_2" csCatId="accent1" phldr="1"/>
      <dgm:spPr/>
    </dgm:pt>
    <dgm:pt modelId="{C8904FDE-7BC3-407C-A2C4-9DC6D971B533}">
      <dgm:prSet phldrT="[文字]"/>
      <dgm:spPr/>
      <dgm:t>
        <a:bodyPr/>
        <a:lstStyle/>
        <a:p>
          <a:r>
            <a:rPr lang="en-US" altLang="zh-TW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3D</a:t>
          </a:r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設計</a:t>
          </a:r>
        </a:p>
      </dgm:t>
    </dgm:pt>
    <dgm:pt modelId="{15ECC425-452D-4467-9CB3-C784EC2A0E1B}" type="parTrans" cxnId="{C69042DA-7A92-463C-A67E-D32EF4B32328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766F8C5C-4CCD-48C5-BD67-7F8C88A0A35C}" type="sibTrans" cxnId="{C69042DA-7A92-463C-A67E-D32EF4B32328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1D20B9A-8E1F-45C6-8D79-D92F99742CCF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列印    </a:t>
          </a:r>
        </a:p>
      </dgm:t>
    </dgm:pt>
    <dgm:pt modelId="{1C0AC741-7653-43A5-A24D-52C42F4E9CCC}" type="parTrans" cxnId="{DE914412-95BE-450A-B266-D658E2E7E2BD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5D7D2B8A-FD10-493B-A947-935BADC583D0}" type="sibTrans" cxnId="{DE914412-95BE-450A-B266-D658E2E7E2BD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B1A600AC-3739-425C-A68C-3AF55465D846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品檢</a:t>
          </a:r>
        </a:p>
      </dgm:t>
    </dgm:pt>
    <dgm:pt modelId="{13EBAEF1-0E8C-41CB-BCDE-36CFEB93ADD5}" type="parTrans" cxnId="{74B724B1-E771-40BF-B70A-97BEC391B666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FDC9740-5BCC-48C7-BFF1-8CE863D9F74D}" type="sibTrans" cxnId="{74B724B1-E771-40BF-B70A-97BEC391B666}">
      <dgm:prSet/>
      <dgm:spPr/>
      <dgm:t>
        <a:bodyPr/>
        <a:lstStyle/>
        <a:p>
          <a:endParaRPr lang="zh-TW" altLang="en-US" b="1">
            <a:latin typeface="微軟正黑體" panose="020B0604030504040204" pitchFamily="34" charset="-120"/>
            <a:ea typeface="微軟正黑體" panose="020B0604030504040204" pitchFamily="34" charset="-120"/>
          </a:endParaRPr>
        </a:p>
      </dgm:t>
    </dgm:pt>
    <dgm:pt modelId="{0B9D4C38-F599-4348-9AD2-13392A2561F8}">
      <dgm:prSet phldrT="[文字]"/>
      <dgm:spPr/>
      <dgm:t>
        <a:bodyPr/>
        <a:lstStyle/>
        <a:p>
          <a:r>
            <a: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rPr>
            <a:t>出貨</a:t>
          </a:r>
        </a:p>
      </dgm:t>
    </dgm:pt>
    <dgm:pt modelId="{CDCFD91D-EAB9-47C1-B139-04E9F12B4B37}" type="parTrans" cxnId="{3C2BD90E-32AD-45E4-B0F5-8035179AA34E}">
      <dgm:prSet/>
      <dgm:spPr/>
      <dgm:t>
        <a:bodyPr/>
        <a:lstStyle/>
        <a:p>
          <a:endParaRPr lang="zh-TW" altLang="en-US" b="1"/>
        </a:p>
      </dgm:t>
    </dgm:pt>
    <dgm:pt modelId="{66AD2AF4-08AA-4301-B730-03A6319781B2}" type="sibTrans" cxnId="{3C2BD90E-32AD-45E4-B0F5-8035179AA34E}">
      <dgm:prSet/>
      <dgm:spPr/>
      <dgm:t>
        <a:bodyPr/>
        <a:lstStyle/>
        <a:p>
          <a:endParaRPr lang="zh-TW" altLang="en-US" b="1"/>
        </a:p>
      </dgm:t>
    </dgm:pt>
    <dgm:pt modelId="{2D5DE634-4EA5-4C8B-9D66-DE1C77BADFC5}" type="pres">
      <dgm:prSet presAssocID="{71CC4058-3987-46EF-93EC-0CF8A6E0086E}" presName="Name0" presStyleCnt="0">
        <dgm:presLayoutVars>
          <dgm:dir/>
          <dgm:animLvl val="lvl"/>
          <dgm:resizeHandles val="exact"/>
        </dgm:presLayoutVars>
      </dgm:prSet>
      <dgm:spPr/>
    </dgm:pt>
    <dgm:pt modelId="{66D16A07-C7E0-4741-BAF5-EC05FF7C04E2}" type="pres">
      <dgm:prSet presAssocID="{C8904FDE-7BC3-407C-A2C4-9DC6D971B533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66150A3-DD4E-4CE1-A6A4-8B4057DA7C3B}" type="pres">
      <dgm:prSet presAssocID="{766F8C5C-4CCD-48C5-BD67-7F8C88A0A35C}" presName="parTxOnlySpace" presStyleCnt="0"/>
      <dgm:spPr/>
    </dgm:pt>
    <dgm:pt modelId="{628BE932-ACF3-4652-A246-1952B9AE6AD7}" type="pres">
      <dgm:prSet presAssocID="{51D20B9A-8E1F-45C6-8D79-D92F99742CCF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D78768A-3B57-4D56-8478-4C8F1D76DC00}" type="pres">
      <dgm:prSet presAssocID="{5D7D2B8A-FD10-493B-A947-935BADC583D0}" presName="parTxOnlySpace" presStyleCnt="0"/>
      <dgm:spPr/>
    </dgm:pt>
    <dgm:pt modelId="{100473E9-B107-469D-8314-BF318C911B30}" type="pres">
      <dgm:prSet presAssocID="{B1A600AC-3739-425C-A68C-3AF55465D846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547EB7C-88B9-45EB-8448-9E848047BF1D}" type="pres">
      <dgm:prSet presAssocID="{0FDC9740-5BCC-48C7-BFF1-8CE863D9F74D}" presName="parTxOnlySpace" presStyleCnt="0"/>
      <dgm:spPr/>
    </dgm:pt>
    <dgm:pt modelId="{7EE9BD60-9565-4004-AFFD-DC5503C8CDAC}" type="pres">
      <dgm:prSet presAssocID="{0B9D4C38-F599-4348-9AD2-13392A2561F8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C2BD90E-32AD-45E4-B0F5-8035179AA34E}" srcId="{71CC4058-3987-46EF-93EC-0CF8A6E0086E}" destId="{0B9D4C38-F599-4348-9AD2-13392A2561F8}" srcOrd="3" destOrd="0" parTransId="{CDCFD91D-EAB9-47C1-B139-04E9F12B4B37}" sibTransId="{66AD2AF4-08AA-4301-B730-03A6319781B2}"/>
    <dgm:cxn modelId="{4EAEE610-D188-457D-831F-2A635F845F2E}" type="presOf" srcId="{C8904FDE-7BC3-407C-A2C4-9DC6D971B533}" destId="{66D16A07-C7E0-4741-BAF5-EC05FF7C04E2}" srcOrd="0" destOrd="0" presId="urn:microsoft.com/office/officeart/2005/8/layout/chevron1"/>
    <dgm:cxn modelId="{DE914412-95BE-450A-B266-D658E2E7E2BD}" srcId="{71CC4058-3987-46EF-93EC-0CF8A6E0086E}" destId="{51D20B9A-8E1F-45C6-8D79-D92F99742CCF}" srcOrd="1" destOrd="0" parTransId="{1C0AC741-7653-43A5-A24D-52C42F4E9CCC}" sibTransId="{5D7D2B8A-FD10-493B-A947-935BADC583D0}"/>
    <dgm:cxn modelId="{AF187A33-3530-4EAA-A2B9-00568B8C91B4}" type="presOf" srcId="{51D20B9A-8E1F-45C6-8D79-D92F99742CCF}" destId="{628BE932-ACF3-4652-A246-1952B9AE6AD7}" srcOrd="0" destOrd="0" presId="urn:microsoft.com/office/officeart/2005/8/layout/chevron1"/>
    <dgm:cxn modelId="{74B724B1-E771-40BF-B70A-97BEC391B666}" srcId="{71CC4058-3987-46EF-93EC-0CF8A6E0086E}" destId="{B1A600AC-3739-425C-A68C-3AF55465D846}" srcOrd="2" destOrd="0" parTransId="{13EBAEF1-0E8C-41CB-BCDE-36CFEB93ADD5}" sibTransId="{0FDC9740-5BCC-48C7-BFF1-8CE863D9F74D}"/>
    <dgm:cxn modelId="{3F78D5D0-D6F4-43BD-AAF6-C7E5601746AD}" type="presOf" srcId="{B1A600AC-3739-425C-A68C-3AF55465D846}" destId="{100473E9-B107-469D-8314-BF318C911B30}" srcOrd="0" destOrd="0" presId="urn:microsoft.com/office/officeart/2005/8/layout/chevron1"/>
    <dgm:cxn modelId="{63EB72D3-7889-4392-BDDE-703AA4594EED}" type="presOf" srcId="{0B9D4C38-F599-4348-9AD2-13392A2561F8}" destId="{7EE9BD60-9565-4004-AFFD-DC5503C8CDAC}" srcOrd="0" destOrd="0" presId="urn:microsoft.com/office/officeart/2005/8/layout/chevron1"/>
    <dgm:cxn modelId="{C69042DA-7A92-463C-A67E-D32EF4B32328}" srcId="{71CC4058-3987-46EF-93EC-0CF8A6E0086E}" destId="{C8904FDE-7BC3-407C-A2C4-9DC6D971B533}" srcOrd="0" destOrd="0" parTransId="{15ECC425-452D-4467-9CB3-C784EC2A0E1B}" sibTransId="{766F8C5C-4CCD-48C5-BD67-7F8C88A0A35C}"/>
    <dgm:cxn modelId="{E6FCC6E2-2300-482B-88C6-30A2FD009E1A}" type="presOf" srcId="{71CC4058-3987-46EF-93EC-0CF8A6E0086E}" destId="{2D5DE634-4EA5-4C8B-9D66-DE1C77BADFC5}" srcOrd="0" destOrd="0" presId="urn:microsoft.com/office/officeart/2005/8/layout/chevron1"/>
    <dgm:cxn modelId="{15388F4E-7716-46DB-BE91-007637FAF663}" type="presParOf" srcId="{2D5DE634-4EA5-4C8B-9D66-DE1C77BADFC5}" destId="{66D16A07-C7E0-4741-BAF5-EC05FF7C04E2}" srcOrd="0" destOrd="0" presId="urn:microsoft.com/office/officeart/2005/8/layout/chevron1"/>
    <dgm:cxn modelId="{6548F194-0BED-449B-B3A7-5D97D7B64D06}" type="presParOf" srcId="{2D5DE634-4EA5-4C8B-9D66-DE1C77BADFC5}" destId="{466150A3-DD4E-4CE1-A6A4-8B4057DA7C3B}" srcOrd="1" destOrd="0" presId="urn:microsoft.com/office/officeart/2005/8/layout/chevron1"/>
    <dgm:cxn modelId="{0755C0AE-7F44-4723-BD6F-4FC2BDDC1E71}" type="presParOf" srcId="{2D5DE634-4EA5-4C8B-9D66-DE1C77BADFC5}" destId="{628BE932-ACF3-4652-A246-1952B9AE6AD7}" srcOrd="2" destOrd="0" presId="urn:microsoft.com/office/officeart/2005/8/layout/chevron1"/>
    <dgm:cxn modelId="{B2E36156-D06F-4B7D-A5B5-9933A24D0A98}" type="presParOf" srcId="{2D5DE634-4EA5-4C8B-9D66-DE1C77BADFC5}" destId="{6D78768A-3B57-4D56-8478-4C8F1D76DC00}" srcOrd="3" destOrd="0" presId="urn:microsoft.com/office/officeart/2005/8/layout/chevron1"/>
    <dgm:cxn modelId="{A897B231-60D2-4DC9-90AD-476B3C645F9A}" type="presParOf" srcId="{2D5DE634-4EA5-4C8B-9D66-DE1C77BADFC5}" destId="{100473E9-B107-469D-8314-BF318C911B30}" srcOrd="4" destOrd="0" presId="urn:microsoft.com/office/officeart/2005/8/layout/chevron1"/>
    <dgm:cxn modelId="{01DBBA31-0835-44D6-8DDB-615F2B9CE615}" type="presParOf" srcId="{2D5DE634-4EA5-4C8B-9D66-DE1C77BADFC5}" destId="{4547EB7C-88B9-45EB-8448-9E848047BF1D}" srcOrd="5" destOrd="0" presId="urn:microsoft.com/office/officeart/2005/8/layout/chevron1"/>
    <dgm:cxn modelId="{D279A6D4-DDFD-4F42-9582-7C2B465DCC35}" type="presParOf" srcId="{2D5DE634-4EA5-4C8B-9D66-DE1C77BADFC5}" destId="{7EE9BD60-9565-4004-AFFD-DC5503C8CDAC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C87759-A6EA-4981-ABCF-34B12D378000}">
      <dsp:nvSpPr>
        <dsp:cNvPr id="0" name=""/>
        <dsp:cNvSpPr/>
      </dsp:nvSpPr>
      <dsp:spPr>
        <a:xfrm>
          <a:off x="5440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3D</a:t>
          </a: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設計</a:t>
          </a:r>
        </a:p>
      </dsp:txBody>
      <dsp:txXfrm>
        <a:off x="291154" y="0"/>
        <a:ext cx="1452561" cy="571427"/>
      </dsp:txXfrm>
    </dsp:sp>
    <dsp:sp modelId="{3655D217-9120-4E9D-8106-607472412B90}">
      <dsp:nvSpPr>
        <dsp:cNvPr id="0" name=""/>
        <dsp:cNvSpPr/>
      </dsp:nvSpPr>
      <dsp:spPr>
        <a:xfrm>
          <a:off x="1827030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2D</a:t>
          </a: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工程圖</a:t>
          </a:r>
        </a:p>
      </dsp:txBody>
      <dsp:txXfrm>
        <a:off x="2112744" y="0"/>
        <a:ext cx="1452561" cy="571427"/>
      </dsp:txXfrm>
    </dsp:sp>
    <dsp:sp modelId="{7D0DF6BA-A9E1-4969-8308-21F5AE8BD866}">
      <dsp:nvSpPr>
        <dsp:cNvPr id="0" name=""/>
        <dsp:cNvSpPr/>
      </dsp:nvSpPr>
      <dsp:spPr>
        <a:xfrm>
          <a:off x="3648620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開模</a:t>
          </a:r>
        </a:p>
      </dsp:txBody>
      <dsp:txXfrm>
        <a:off x="3934334" y="0"/>
        <a:ext cx="1452561" cy="571427"/>
      </dsp:txXfrm>
    </dsp:sp>
    <dsp:sp modelId="{4C485225-8F01-4C0F-9B7A-99445678FC72}">
      <dsp:nvSpPr>
        <dsp:cNvPr id="0" name=""/>
        <dsp:cNvSpPr/>
      </dsp:nvSpPr>
      <dsp:spPr>
        <a:xfrm>
          <a:off x="5470211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二次加工</a:t>
          </a:r>
        </a:p>
      </dsp:txBody>
      <dsp:txXfrm>
        <a:off x="5755925" y="0"/>
        <a:ext cx="1452561" cy="571427"/>
      </dsp:txXfrm>
    </dsp:sp>
    <dsp:sp modelId="{6C83BE08-12BE-4C47-BD90-D4AF337758B2}">
      <dsp:nvSpPr>
        <dsp:cNvPr id="0" name=""/>
        <dsp:cNvSpPr/>
      </dsp:nvSpPr>
      <dsp:spPr>
        <a:xfrm>
          <a:off x="7291801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品檢</a:t>
          </a:r>
        </a:p>
      </dsp:txBody>
      <dsp:txXfrm>
        <a:off x="7577515" y="0"/>
        <a:ext cx="1452561" cy="571427"/>
      </dsp:txXfrm>
    </dsp:sp>
    <dsp:sp modelId="{92899A32-3B80-4430-BBFF-9CAD84B72B8E}">
      <dsp:nvSpPr>
        <dsp:cNvPr id="0" name=""/>
        <dsp:cNvSpPr/>
      </dsp:nvSpPr>
      <dsp:spPr>
        <a:xfrm>
          <a:off x="9113391" y="0"/>
          <a:ext cx="2023988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3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出貨</a:t>
          </a:r>
        </a:p>
      </dsp:txBody>
      <dsp:txXfrm>
        <a:off x="9399105" y="0"/>
        <a:ext cx="1452561" cy="5714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D16A07-C7E0-4741-BAF5-EC05FF7C04E2}">
      <dsp:nvSpPr>
        <dsp:cNvPr id="0" name=""/>
        <dsp:cNvSpPr/>
      </dsp:nvSpPr>
      <dsp:spPr>
        <a:xfrm>
          <a:off x="3495" y="0"/>
          <a:ext cx="2034973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TW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3D</a:t>
          </a: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設計</a:t>
          </a:r>
        </a:p>
      </dsp:txBody>
      <dsp:txXfrm>
        <a:off x="289209" y="0"/>
        <a:ext cx="1463546" cy="571427"/>
      </dsp:txXfrm>
    </dsp:sp>
    <dsp:sp modelId="{628BE932-ACF3-4652-A246-1952B9AE6AD7}">
      <dsp:nvSpPr>
        <dsp:cNvPr id="0" name=""/>
        <dsp:cNvSpPr/>
      </dsp:nvSpPr>
      <dsp:spPr>
        <a:xfrm>
          <a:off x="1834971" y="0"/>
          <a:ext cx="2034973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列印    </a:t>
          </a:r>
        </a:p>
      </dsp:txBody>
      <dsp:txXfrm>
        <a:off x="2120685" y="0"/>
        <a:ext cx="1463546" cy="571427"/>
      </dsp:txXfrm>
    </dsp:sp>
    <dsp:sp modelId="{100473E9-B107-469D-8314-BF318C911B30}">
      <dsp:nvSpPr>
        <dsp:cNvPr id="0" name=""/>
        <dsp:cNvSpPr/>
      </dsp:nvSpPr>
      <dsp:spPr>
        <a:xfrm>
          <a:off x="3666447" y="0"/>
          <a:ext cx="2034973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品檢</a:t>
          </a:r>
        </a:p>
      </dsp:txBody>
      <dsp:txXfrm>
        <a:off x="3952161" y="0"/>
        <a:ext cx="1463546" cy="571427"/>
      </dsp:txXfrm>
    </dsp:sp>
    <dsp:sp modelId="{7EE9BD60-9565-4004-AFFD-DC5503C8CDAC}">
      <dsp:nvSpPr>
        <dsp:cNvPr id="0" name=""/>
        <dsp:cNvSpPr/>
      </dsp:nvSpPr>
      <dsp:spPr>
        <a:xfrm>
          <a:off x="5497923" y="0"/>
          <a:ext cx="2034973" cy="571427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2400" b="1" kern="1200" dirty="0">
              <a:latin typeface="微軟正黑體" panose="020B0604030504040204" pitchFamily="34" charset="-120"/>
              <a:ea typeface="微軟正黑體" panose="020B0604030504040204" pitchFamily="34" charset="-120"/>
            </a:rPr>
            <a:t>出貨</a:t>
          </a:r>
        </a:p>
      </dsp:txBody>
      <dsp:txXfrm>
        <a:off x="5783637" y="0"/>
        <a:ext cx="1463546" cy="571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軟正黑體" panose="020B0604030504040204" pitchFamily="34" charset="-12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軟正黑體" panose="020B0604030504040204" pitchFamily="34" charset="-120"/>
                <a:ea typeface="新細明體" charset="-120"/>
              </a:defRPr>
            </a:lvl1pPr>
          </a:lstStyle>
          <a:p>
            <a:pPr>
              <a:defRPr/>
            </a:pPr>
            <a:fld id="{C3A6ADA7-78D6-47DB-8B6F-0386D5B3310E}" type="datetimeFigureOut">
              <a:rPr lang="zh-TW" altLang="en-US" smtClean="0"/>
              <a:pPr>
                <a:defRPr/>
              </a:pPr>
              <a:t>2026/7/17</a:t>
            </a:fld>
            <a:endParaRPr lang="zh-TW" altLang="en-US" dirty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軟正黑體" panose="020B0604030504040204" pitchFamily="34" charset="-12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軟正黑體" panose="020B0604030504040204" pitchFamily="34" charset="-120"/>
                <a:ea typeface="新細明體" charset="-120"/>
              </a:defRPr>
            </a:lvl1pPr>
          </a:lstStyle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023858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3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31995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本頁為材料選用的說明頁，請依照客戶需求替換不同照片與材料說明。</a:t>
            </a:r>
            <a:br>
              <a:rPr lang="en-US" altLang="zh-TW" dirty="0"/>
            </a:br>
            <a:r>
              <a:rPr lang="zh-TW" altLang="en-US" dirty="0"/>
              <a:t>材料說明可參考</a:t>
            </a:r>
            <a:r>
              <a:rPr lang="en-US" altLang="zh-TW" dirty="0"/>
              <a:t>Formlabs</a:t>
            </a:r>
            <a:r>
              <a:rPr lang="zh-TW" altLang="en-US" dirty="0"/>
              <a:t>網站對於不同材質的介紹。</a:t>
            </a:r>
            <a:br>
              <a:rPr lang="en-US" altLang="zh-TW" dirty="0"/>
            </a:br>
            <a:r>
              <a:rPr lang="en-US" altLang="zh-TW" dirty="0"/>
              <a:t>https://formlabs.com/asia/materials/</a:t>
            </a:r>
            <a:br>
              <a:rPr lang="en-US" altLang="zh-TW" dirty="0"/>
            </a:br>
            <a:br>
              <a:rPr lang="en-US" altLang="zh-TW" dirty="0"/>
            </a:br>
            <a:r>
              <a:rPr lang="zh-TW" altLang="en-US" dirty="0"/>
              <a:t>並提供物性表供客戶參考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22918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精度標準請複製貼上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: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Form4/4L:</a:t>
            </a:r>
          </a:p>
          <a:p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1-30mm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特徵：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±0.15%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（下限：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±0.02mm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31-80mm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特徵：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±0.2%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（下限：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±0.06mm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81-150mm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特徵：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±0.3%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（下限：</a:t>
            </a: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±0.15mm</a:t>
            </a:r>
            <a:r>
              <a:rPr lang="zh-TW" altLang="en-US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）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Fuse: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1" kern="1200" dirty="0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±0.15mm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MarkTwo:</a:t>
            </a:r>
          </a:p>
          <a:p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X, Y:+/- 0.25mm or 0.25%</a:t>
            </a:r>
          </a:p>
          <a:p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Z:+/- 0.1mm or 0.15%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X7/FX10/FX20:</a:t>
            </a:r>
            <a:b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</a:br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X, Y:+/- 0.15mm or 0.2%</a:t>
            </a:r>
          </a:p>
          <a:p>
            <a:r>
              <a:rPr lang="en-US" altLang="zh-TW" sz="1200" b="1" kern="1200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Z:+/- 0.1mm or 0.1%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6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3530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7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0842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AA03F53-8ADE-431F-9505-796ECACB31E8}" type="slidenum">
              <a:rPr lang="zh-TW" altLang="en-US" smtClean="0"/>
              <a:pPr>
                <a:defRPr/>
              </a:pPr>
              <a:t>8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6680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b="1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26A3D-C7A0-494C-9782-34A220A3075B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2680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09600" y="1968497"/>
            <a:ext cx="5715040" cy="1470025"/>
          </a:xfrm>
        </p:spPr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596880" y="4221088"/>
            <a:ext cx="5715040" cy="571504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F68134-BFF0-4A2C-AE7B-54A48479C3E3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49D47-C949-4532-B206-F799BFAEA20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A0FA00-ED04-4926-BD39-D8D2819C7C6D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A2B7A7-340D-430C-8436-DDDB070E60A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DD310-EC52-48A2-BCEB-8EFEE9EBCF75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6DD677-1A2E-4AC4-9439-2A477ED706D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124747"/>
            <a:ext cx="53848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4747"/>
            <a:ext cx="5384800" cy="500141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16346-A852-49F2-9157-339958EFD58E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B35503-8B18-4BA5-AC4E-D84A0CA8A35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23392" y="105273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1844829"/>
            <a:ext cx="5386917" cy="4281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096004" y="980728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1844829"/>
            <a:ext cx="5389033" cy="428133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4AED3D-FEA9-4ADB-B027-F33BEF5B61FA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147F73-6C25-4BB1-BD34-6F16461FC68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A0E811-511C-4C07-AE39-FE07F9980817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BE8832-C03B-49EC-8FA0-B0D1B671C3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5ACD91-7B88-4FB7-AC48-67891E32F905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106739-33C1-4A42-A2C5-E312A7BDC53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1268760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546731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B32419-A64A-4A72-A8B2-BAA54075A47C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1EDF67-C5AE-4F5D-8B89-0106F277DBD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80BAEF-91C6-4BF3-80C5-58E24414DE86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1FA281-8853-4267-BD9E-87A2931CA5B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標題，文字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36712"/>
          </a:xfrm>
        </p:spPr>
        <p:txBody>
          <a:bodyPr/>
          <a:lstStyle>
            <a:lvl1pPr>
              <a:defRPr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sz="half" idx="1"/>
          </p:nvPr>
        </p:nvSpPr>
        <p:spPr>
          <a:xfrm>
            <a:off x="609600" y="1268760"/>
            <a:ext cx="5384800" cy="4857403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268760"/>
            <a:ext cx="5384800" cy="485740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B7FAD6-34DB-4743-9461-1B66280FB44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94690126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u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2006291"/>
            <a:ext cx="12192000" cy="3429415"/>
          </a:xfrm>
          <a:prstGeom prst="rect">
            <a:avLst/>
          </a:prstGeom>
          <a:solidFill>
            <a:schemeClr val="bg1">
              <a:lumMod val="85000"/>
              <a:alpha val="12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lang="en-US" sz="100"/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432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版面配置區 1"/>
          <p:cNvSpPr>
            <a:spLocks noGrp="1"/>
          </p:cNvSpPr>
          <p:nvPr>
            <p:ph type="title"/>
          </p:nvPr>
        </p:nvSpPr>
        <p:spPr bwMode="auto">
          <a:xfrm>
            <a:off x="624417" y="188915"/>
            <a:ext cx="80772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3075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09600" y="1052513"/>
            <a:ext cx="10972800" cy="5073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5727D43-D9A2-461B-82FC-CC002F812A94}" type="datetimeFigureOut">
              <a:rPr lang="zh-TW" altLang="en-US"/>
              <a:pPr>
                <a:defRPr/>
              </a:pPr>
              <a:t>2026/7/17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73C2FBA-2D19-4258-B491-A9D512564B2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9" r:id="rId8"/>
    <p:sldLayoutId id="2147483760" r:id="rId9"/>
    <p:sldLayoutId id="2147483772" r:id="rId10"/>
    <p:sldLayoutId id="2147483773" r:id="rId11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bg1"/>
          </a:solidFill>
          <a:latin typeface="微軟正黑體" pitchFamily="34" charset="-120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微軟正黑體" pitchFamily="34" charset="-12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微軟正黑體" pitchFamily="34" charset="-12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微軟正黑體" pitchFamily="34" charset="-12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微軟正黑體" pitchFamily="34" charset="-120"/>
          <a:ea typeface="微軟正黑體" pitchFamily="34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6pPr>
      <a:lvl7pPr marL="914377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charset="-120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微軟正黑體" pitchFamily="34" charset="-120"/>
          <a:ea typeface="微軟正黑體" pitchFamily="34" charset="-120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DG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DG2.png"/></Relationships>
</file>

<file path=ppt/slides/_rels/slide6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DG3.png"/></Relationships>
</file>

<file path=ppt/slides/_rels/slide7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DG4.png"/><Relationship Id="rId4" Type="http://schemas.openxmlformats.org/officeDocument/2006/relationships/image" Target="../media/imageDG5.png"/></Relationships>
</file>

<file path=ppt/slides/_rels/slide8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DG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hyperlink" Target="https://www.youtube.com/@SWTCIM" TargetMode="External"/><Relationship Id="rId7" Type="http://schemas.openxmlformats.org/officeDocument/2006/relationships/hyperlink" Target="https://www.facebook.com/SWTCIM" TargetMode="Externa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6.png"/><Relationship Id="rId11" Type="http://schemas.openxmlformats.org/officeDocument/2006/relationships/image" Target="../media/image8.png"/><Relationship Id="rId5" Type="http://schemas.openxmlformats.org/officeDocument/2006/relationships/hyperlink" Target="https://www.instagram.com/solidworkstw/" TargetMode="External"/><Relationship Id="rId10" Type="http://schemas.openxmlformats.org/officeDocument/2006/relationships/hyperlink" Target="https://page.line.me/swtc" TargetMode="External"/><Relationship Id="rId4" Type="http://schemas.openxmlformats.org/officeDocument/2006/relationships/image" Target="../media/image5.png"/><Relationship Id="rId9" Type="http://schemas.openxmlformats.org/officeDocument/2006/relationships/hyperlink" Target="https://www.swtc.com/zh-tw/product/#101" TargetMode="External"/></Relationships>
</file>

<file path=ppt/slides/_rels/slideDGM1.xml.rels><?xml version="1.0" encoding="UTF-8" standalone="yes"?>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標題 2">
            <a:extLst>
              <a:ext uri="{FF2B5EF4-FFF2-40B4-BE49-F238E27FC236}">
                <a16:creationId xmlns:a16="http://schemas.microsoft.com/office/drawing/2014/main" id="{267A1B90-9D4A-4A39-AB93-BD415AB922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23392" y="4797152"/>
            <a:ext cx="5715040" cy="504056"/>
          </a:xfrm>
        </p:spPr>
        <p:txBody>
          <a:bodyPr/>
          <a:lstStyle/>
          <a:p>
            <a:r>
              <a:rPr lang="zh-TW" altLang="en-US" dirty="0"/>
              <a:t>模型製作者_廖璟程（Jimmy）</a:t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  <a:r>
              <a:rPr lang="zh-TW" altLang="en-US" dirty="0"/>
              <a:t/>
            </a:r>
            <a:r>
              <a:rPr lang="en-US" altLang="zh-TW" dirty="0"/>
              <a:t/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766F38D-EFAF-4246-826F-7EBC3C966883}"/>
              </a:ext>
            </a:extLst>
          </p:cNvPr>
          <p:cNvSpPr/>
          <p:nvPr/>
        </p:nvSpPr>
        <p:spPr>
          <a:xfrm>
            <a:off x="623392" y="2492896"/>
            <a:ext cx="5262979" cy="132343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4400" b="1" dirty="0">
                <a:solidFill>
                  <a:srgbClr val="FFC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正璿精密實業股份有限公司</a:t>
            </a:r>
            <a:br>
              <a:rPr lang="en-US" altLang="zh-TW" sz="44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3600" b="1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材料</a:t>
            </a:r>
            <a:r>
              <a:rPr lang="zh-TW" altLang="en-US" sz="3600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特性與列印尺寸確認</a:t>
            </a:r>
            <a:endParaRPr lang="zh-TW" altLang="en-US" sz="4400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7476583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EBA1ADB9-8582-4269-A3D1-4DD1D1A7222B}"/>
              </a:ext>
            </a:extLst>
          </p:cNvPr>
          <p:cNvGraphicFramePr>
            <a:graphicFrameLocks noGrp="1"/>
          </p:cNvGraphicFramePr>
          <p:nvPr/>
        </p:nvGraphicFramePr>
        <p:xfrm>
          <a:off x="70339" y="944547"/>
          <a:ext cx="12058023" cy="5805303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82171">
                  <a:extLst>
                    <a:ext uri="{9D8B030D-6E8A-4147-A177-3AD203B41FA5}">
                      <a16:colId xmlns:a16="http://schemas.microsoft.com/office/drawing/2014/main" val="4220238676"/>
                    </a:ext>
                  </a:extLst>
                </a:gridCol>
                <a:gridCol w="2023210">
                  <a:extLst>
                    <a:ext uri="{9D8B030D-6E8A-4147-A177-3AD203B41FA5}">
                      <a16:colId xmlns:a16="http://schemas.microsoft.com/office/drawing/2014/main" val="2858743480"/>
                    </a:ext>
                  </a:extLst>
                </a:gridCol>
                <a:gridCol w="3312368">
                  <a:extLst>
                    <a:ext uri="{9D8B030D-6E8A-4147-A177-3AD203B41FA5}">
                      <a16:colId xmlns:a16="http://schemas.microsoft.com/office/drawing/2014/main" val="2553494982"/>
                    </a:ext>
                  </a:extLst>
                </a:gridCol>
                <a:gridCol w="3096344">
                  <a:extLst>
                    <a:ext uri="{9D8B030D-6E8A-4147-A177-3AD203B41FA5}">
                      <a16:colId xmlns:a16="http://schemas.microsoft.com/office/drawing/2014/main" val="2373087673"/>
                    </a:ext>
                  </a:extLst>
                </a:gridCol>
                <a:gridCol w="2143930">
                  <a:extLst>
                    <a:ext uri="{9D8B030D-6E8A-4147-A177-3AD203B41FA5}">
                      <a16:colId xmlns:a16="http://schemas.microsoft.com/office/drawing/2014/main" val="2608618726"/>
                    </a:ext>
                  </a:extLst>
                </a:gridCol>
              </a:tblGrid>
              <a:tr h="40091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9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開模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數控、手控機床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3D</a:t>
                      </a: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370415"/>
                  </a:ext>
                </a:extLst>
              </a:tr>
              <a:tr h="386065">
                <a:tc rowSpan="3">
                  <a:txBody>
                    <a:bodyPr/>
                    <a:lstStyle/>
                    <a:p>
                      <a:pPr algn="ctr"/>
                      <a:r>
                        <a:rPr lang="zh-TW" altLang="en-US" sz="19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製造方式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砂、鋁模、鋼模等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車床、銑床、車銑複合等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FDM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基層製造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1749798"/>
                  </a:ext>
                </a:extLst>
              </a:tr>
              <a:tr h="386065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脫蠟、消失模等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五軸加工機、鑽床、鋸床、塘床等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SLA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、</a:t>
                      </a: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DLP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光固化</a:t>
                      </a:r>
                      <a:endParaRPr lang="en-US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6238491"/>
                  </a:ext>
                </a:extLst>
              </a:tr>
              <a:tr h="386065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矽膠模、木模等</a:t>
                      </a:r>
                      <a:endParaRPr lang="zh-TW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雷射切割、鈑金折床等</a:t>
                      </a:r>
                      <a:endParaRPr lang="zh-TW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SLS</a:t>
                      </a:r>
                      <a:r>
                        <a:rPr lang="zh-TW" altLang="en-US" sz="1600" b="1" kern="1200" dirty="0">
                          <a:solidFill>
                            <a:schemeClr val="dk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粉末燒結</a:t>
                      </a:r>
                      <a:endParaRPr lang="zh-TW" altLang="zh-TW" sz="1600" b="1" kern="1200" dirty="0">
                        <a:solidFill>
                          <a:schemeClr val="dk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5875274"/>
                  </a:ext>
                </a:extLst>
              </a:tr>
              <a:tr h="475157">
                <a:tc>
                  <a:txBody>
                    <a:bodyPr/>
                    <a:lstStyle/>
                    <a:p>
                      <a:pPr algn="ctr"/>
                      <a:endParaRPr lang="zh-TW" altLang="en-US" sz="2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現有製造問題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3D</a:t>
                      </a: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列印特性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900" b="1" dirty="0">
                          <a:solidFill>
                            <a:schemeClr val="tx2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改善內容</a:t>
                      </a:r>
                      <a:endParaRPr lang="zh-TW" altLang="zh-TW" sz="1900" b="1" dirty="0">
                        <a:solidFill>
                          <a:schemeClr val="tx2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9719527"/>
                  </a:ext>
                </a:extLst>
              </a:tr>
              <a:tr h="356368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操作特性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非常著重操作者經驗，且設備轉換時間長</a:t>
                      </a:r>
                      <a:endParaRPr lang="en-US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操作簡單易學習</a:t>
                      </a:r>
                      <a:endParaRPr lang="en-US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學習成本降低</a:t>
                      </a:r>
                      <a:br>
                        <a:rPr lang="en-US" altLang="zh-TW" sz="1600" b="1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600" b="1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生產標準化提升</a:t>
                      </a:r>
                      <a:endParaRPr lang="zh-TW" altLang="zh-TW" sz="1600" b="1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4941993"/>
                  </a:ext>
                </a:extLst>
              </a:tr>
              <a:tr h="35636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部分設備</a:t>
                      </a:r>
                      <a:r>
                        <a:rPr lang="zh-TW" altLang="zh-TW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人為操作誤差</a:t>
                      </a: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無法避免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容易標準化，提升良率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027514"/>
                  </a:ext>
                </a:extLst>
              </a:tr>
              <a:tr h="356368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材料特性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材料浪費情形嚴重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除部分支撐材，無其餘浪費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最大限度節省材料</a:t>
                      </a:r>
                      <a:br>
                        <a:rPr lang="en-US" altLang="zh-TW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</a:b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環境影響小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2141469"/>
                  </a:ext>
                </a:extLst>
              </a:tr>
              <a:tr h="35636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廢料對環境影響甚鉅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僅一般塑料，無嚴重汙染問題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2984903"/>
                  </a:ext>
                </a:extLst>
              </a:tr>
              <a:tr h="415498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成品特性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難以製造特殊形狀零件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可製造特殊形狀零件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可製造複雜形狀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8036378"/>
                  </a:ext>
                </a:extLst>
              </a:tr>
              <a:tr h="35636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部分金屬成品非常的重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可設定成品內部結構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3488845"/>
                  </a:ext>
                </a:extLst>
              </a:tr>
              <a:tr h="364712">
                <a:tc rowSpan="2">
                  <a:txBody>
                    <a:bodyPr/>
                    <a:lstStyle/>
                    <a:p>
                      <a:pPr algn="ctr"/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加工成本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加工複雜形狀須具備的設備成本過高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僅需一台列印設備成本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綜合成本低廉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0402192"/>
                  </a:ext>
                </a:extLst>
              </a:tr>
              <a:tr h="356368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小批量或客製生產成本過高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非常適合小批量與客製生產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4381118"/>
                  </a:ext>
                </a:extLst>
              </a:tr>
              <a:tr h="386065">
                <a:tc rowSpan="2"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環境成本</a:t>
                      </a: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設備占地面積大，且成品運輸費時費力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設備佔地面積小，且可異地生產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環境要求低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362990"/>
                  </a:ext>
                </a:extLst>
              </a:tr>
              <a:tr h="386065">
                <a:tc vMerge="1">
                  <a:txBody>
                    <a:bodyPr/>
                    <a:lstStyle/>
                    <a:p>
                      <a:pPr algn="ctr"/>
                      <a:endParaRPr lang="zh-TW" altLang="en-US" sz="18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模具儲存需極大空間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b="1" kern="1200" dirty="0">
                          <a:solidFill>
                            <a:srgbClr val="C00000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無須模具，無儲存問題</a:t>
                      </a: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762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rgbClr val="C00000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4F81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926490"/>
                  </a:ext>
                </a:extLst>
              </a:tr>
            </a:tbl>
          </a:graphicData>
        </a:graphic>
      </p:graphicFrame>
      <p:sp>
        <p:nvSpPr>
          <p:cNvPr id="16" name="標題 1">
            <a:extLst>
              <a:ext uri="{FF2B5EF4-FFF2-40B4-BE49-F238E27FC236}">
                <a16:creationId xmlns:a16="http://schemas.microsoft.com/office/drawing/2014/main" id="{0D207850-85D8-46BE-A915-BEF2544DA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9745082" cy="717847"/>
          </a:xfrm>
        </p:spPr>
        <p:txBody>
          <a:bodyPr>
            <a:normAutofit fontScale="90000"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導入目標</a:t>
            </a:r>
            <a:r>
              <a:rPr lang="en-US" altLang="zh-TW" sz="3733" dirty="0"/>
              <a:t>-</a:t>
            </a:r>
            <a:r>
              <a:rPr lang="zh-TW" altLang="en-US" sz="3733" dirty="0">
                <a:solidFill>
                  <a:srgbClr val="FFC000"/>
                </a:solidFill>
              </a:rPr>
              <a:t>現狀痛點與導入後改善說明</a:t>
            </a: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0B4E728D-8D79-4BB2-AE41-2E3AD8CFEF16}"/>
              </a:ext>
            </a:extLst>
          </p:cNvPr>
          <p:cNvGrpSpPr/>
          <p:nvPr/>
        </p:nvGrpSpPr>
        <p:grpSpPr>
          <a:xfrm>
            <a:off x="6528048" y="3212976"/>
            <a:ext cx="401124" cy="3307672"/>
            <a:chOff x="6764597" y="3212976"/>
            <a:chExt cx="401124" cy="3307672"/>
          </a:xfrm>
        </p:grpSpPr>
        <p:sp>
          <p:nvSpPr>
            <p:cNvPr id="4" name="箭號: 向右 3">
              <a:extLst>
                <a:ext uri="{FF2B5EF4-FFF2-40B4-BE49-F238E27FC236}">
                  <a16:creationId xmlns:a16="http://schemas.microsoft.com/office/drawing/2014/main" id="{12F7F5F5-0075-49D1-8A76-43554361B19F}"/>
                </a:ext>
              </a:extLst>
            </p:cNvPr>
            <p:cNvSpPr/>
            <p:nvPr/>
          </p:nvSpPr>
          <p:spPr>
            <a:xfrm>
              <a:off x="6764597" y="3212976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5" name="箭號: 向右 4">
              <a:extLst>
                <a:ext uri="{FF2B5EF4-FFF2-40B4-BE49-F238E27FC236}">
                  <a16:creationId xmlns:a16="http://schemas.microsoft.com/office/drawing/2014/main" id="{56EE2B48-04AE-4914-9AB0-EC28DBC49ED0}"/>
                </a:ext>
              </a:extLst>
            </p:cNvPr>
            <p:cNvSpPr/>
            <p:nvPr/>
          </p:nvSpPr>
          <p:spPr>
            <a:xfrm>
              <a:off x="6764597" y="3959669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6" name="箭號: 向右 5">
              <a:extLst>
                <a:ext uri="{FF2B5EF4-FFF2-40B4-BE49-F238E27FC236}">
                  <a16:creationId xmlns:a16="http://schemas.microsoft.com/office/drawing/2014/main" id="{421DCD60-F944-4556-92B5-C1ABD4EFCAA9}"/>
                </a:ext>
              </a:extLst>
            </p:cNvPr>
            <p:cNvSpPr/>
            <p:nvPr/>
          </p:nvSpPr>
          <p:spPr>
            <a:xfrm>
              <a:off x="6764597" y="4706362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7" name="箭號: 向右 6">
              <a:extLst>
                <a:ext uri="{FF2B5EF4-FFF2-40B4-BE49-F238E27FC236}">
                  <a16:creationId xmlns:a16="http://schemas.microsoft.com/office/drawing/2014/main" id="{F07BAF92-FFCC-4A09-AE27-5E49AFCCCFA2}"/>
                </a:ext>
              </a:extLst>
            </p:cNvPr>
            <p:cNvSpPr/>
            <p:nvPr/>
          </p:nvSpPr>
          <p:spPr>
            <a:xfrm>
              <a:off x="6764597" y="6199749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15" name="箭號: 向右 14">
              <a:extLst>
                <a:ext uri="{FF2B5EF4-FFF2-40B4-BE49-F238E27FC236}">
                  <a16:creationId xmlns:a16="http://schemas.microsoft.com/office/drawing/2014/main" id="{0621CE83-E9C7-4364-8A18-B8B8433A908C}"/>
                </a:ext>
              </a:extLst>
            </p:cNvPr>
            <p:cNvSpPr/>
            <p:nvPr/>
          </p:nvSpPr>
          <p:spPr>
            <a:xfrm>
              <a:off x="6764597" y="5453055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7ECFF1F0-BDA5-42AD-9931-0F624465728F}"/>
              </a:ext>
            </a:extLst>
          </p:cNvPr>
          <p:cNvGrpSpPr/>
          <p:nvPr/>
        </p:nvGrpSpPr>
        <p:grpSpPr>
          <a:xfrm>
            <a:off x="9768408" y="3212976"/>
            <a:ext cx="401124" cy="3307672"/>
            <a:chOff x="6764597" y="3212976"/>
            <a:chExt cx="401124" cy="3307672"/>
          </a:xfrm>
        </p:grpSpPr>
        <p:sp>
          <p:nvSpPr>
            <p:cNvPr id="18" name="箭號: 向右 17">
              <a:extLst>
                <a:ext uri="{FF2B5EF4-FFF2-40B4-BE49-F238E27FC236}">
                  <a16:creationId xmlns:a16="http://schemas.microsoft.com/office/drawing/2014/main" id="{5E3C18C8-3542-4281-B76F-D861404A4869}"/>
                </a:ext>
              </a:extLst>
            </p:cNvPr>
            <p:cNvSpPr/>
            <p:nvPr/>
          </p:nvSpPr>
          <p:spPr>
            <a:xfrm>
              <a:off x="6764597" y="3212976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19" name="箭號: 向右 18">
              <a:extLst>
                <a:ext uri="{FF2B5EF4-FFF2-40B4-BE49-F238E27FC236}">
                  <a16:creationId xmlns:a16="http://schemas.microsoft.com/office/drawing/2014/main" id="{558CFBEF-2ECF-4473-A2F9-31AE09347A24}"/>
                </a:ext>
              </a:extLst>
            </p:cNvPr>
            <p:cNvSpPr/>
            <p:nvPr/>
          </p:nvSpPr>
          <p:spPr>
            <a:xfrm>
              <a:off x="6764597" y="3959669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20" name="箭號: 向右 19">
              <a:extLst>
                <a:ext uri="{FF2B5EF4-FFF2-40B4-BE49-F238E27FC236}">
                  <a16:creationId xmlns:a16="http://schemas.microsoft.com/office/drawing/2014/main" id="{14076D7E-9FA4-496F-BCEF-787251A3ED96}"/>
                </a:ext>
              </a:extLst>
            </p:cNvPr>
            <p:cNvSpPr/>
            <p:nvPr/>
          </p:nvSpPr>
          <p:spPr>
            <a:xfrm>
              <a:off x="6764597" y="4706362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21" name="箭號: 向右 20">
              <a:extLst>
                <a:ext uri="{FF2B5EF4-FFF2-40B4-BE49-F238E27FC236}">
                  <a16:creationId xmlns:a16="http://schemas.microsoft.com/office/drawing/2014/main" id="{8BAEE954-E940-4A42-8A3D-D4E70D145BB4}"/>
                </a:ext>
              </a:extLst>
            </p:cNvPr>
            <p:cNvSpPr/>
            <p:nvPr/>
          </p:nvSpPr>
          <p:spPr>
            <a:xfrm>
              <a:off x="6764597" y="6199749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  <p:sp>
          <p:nvSpPr>
            <p:cNvPr id="22" name="箭號: 向右 21">
              <a:extLst>
                <a:ext uri="{FF2B5EF4-FFF2-40B4-BE49-F238E27FC236}">
                  <a16:creationId xmlns:a16="http://schemas.microsoft.com/office/drawing/2014/main" id="{CE3707A1-8B19-4DA4-834C-EEC29E34948B}"/>
                </a:ext>
              </a:extLst>
            </p:cNvPr>
            <p:cNvSpPr/>
            <p:nvPr/>
          </p:nvSpPr>
          <p:spPr>
            <a:xfrm>
              <a:off x="6764597" y="5453055"/>
              <a:ext cx="401124" cy="320899"/>
            </a:xfrm>
            <a:prstGeom prst="rightArrow">
              <a:avLst/>
            </a:prstGeom>
            <a:solidFill>
              <a:srgbClr val="CC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 sz="1867" dirty="0"/>
            </a:p>
          </p:txBody>
        </p:sp>
      </p:grpSp>
    </p:spTree>
    <p:extLst>
      <p:ext uri="{BB962C8B-B14F-4D97-AF65-F5344CB8AC3E}">
        <p14:creationId xmlns:p14="http://schemas.microsoft.com/office/powerpoint/2010/main" val="1262784580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9B95817-771B-C3A8-03B6-3AE888910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906" y="897498"/>
            <a:ext cx="11389324" cy="1536169"/>
          </a:xfrm>
        </p:spPr>
        <p:txBody>
          <a:bodyPr>
            <a:norm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zh-TW" sz="2000" dirty="0"/>
              <a:t>3D</a:t>
            </a:r>
            <a:r>
              <a:rPr lang="zh-TW" altLang="en-US" sz="2000" dirty="0"/>
              <a:t>列印製造</a:t>
            </a:r>
            <a:r>
              <a:rPr lang="zh-TW" altLang="en-US" sz="2000" b="1" dirty="0"/>
              <a:t>方式</a:t>
            </a:r>
            <a:r>
              <a:rPr lang="en-US" altLang="zh-TW" sz="2000" b="1" dirty="0"/>
              <a:t>:</a:t>
            </a:r>
            <a:br>
              <a:rPr lang="en-US" altLang="zh-TW" sz="1600" b="1" dirty="0"/>
            </a:br>
            <a:r>
              <a:rPr lang="en-US" altLang="zh-TW" sz="1800" dirty="0"/>
              <a:t>3D</a:t>
            </a:r>
            <a:r>
              <a:rPr lang="zh-TW" altLang="en-US" sz="1800" dirty="0"/>
              <a:t>列印，也稱為增材製造（</a:t>
            </a:r>
            <a:r>
              <a:rPr lang="en-US" altLang="zh-TW" sz="1800" dirty="0"/>
              <a:t>Additive Manufacturing</a:t>
            </a:r>
            <a:r>
              <a:rPr lang="zh-TW" altLang="en-US" sz="1800" dirty="0"/>
              <a:t>，</a:t>
            </a:r>
            <a:r>
              <a:rPr lang="en-US" altLang="zh-TW" sz="1800" dirty="0"/>
              <a:t>AM</a:t>
            </a:r>
            <a:r>
              <a:rPr lang="zh-TW" altLang="en-US" sz="1800" dirty="0"/>
              <a:t>）或快速原型製造（</a:t>
            </a:r>
            <a:r>
              <a:rPr lang="en-US" altLang="zh-TW" sz="1800" dirty="0"/>
              <a:t>Rapid Prototyping</a:t>
            </a:r>
            <a:r>
              <a:rPr lang="zh-TW" altLang="en-US" sz="1800" dirty="0"/>
              <a:t>，</a:t>
            </a:r>
            <a:r>
              <a:rPr lang="en-US" altLang="zh-TW" sz="1800" dirty="0"/>
              <a:t>RP</a:t>
            </a:r>
            <a:r>
              <a:rPr lang="zh-TW" altLang="en-US" sz="1800" dirty="0"/>
              <a:t>），是一種製造技術，通過逐層堆疊材料來建構物體，而不是像傳統的減法製造，通過切割或加工原始材料。</a:t>
            </a:r>
            <a:endParaRPr lang="zh-TW" altLang="en-US" sz="1600" dirty="0"/>
          </a:p>
        </p:txBody>
      </p:sp>
      <p:sp>
        <p:nvSpPr>
          <p:cNvPr id="24" name="標題 1">
            <a:extLst>
              <a:ext uri="{FF2B5EF4-FFF2-40B4-BE49-F238E27FC236}">
                <a16:creationId xmlns:a16="http://schemas.microsoft.com/office/drawing/2014/main" id="{A132B8F4-DA11-4EB0-8B41-0BE37618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6976436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導入目標</a:t>
            </a:r>
            <a:r>
              <a:rPr lang="en-US" altLang="zh-TW" sz="3733" dirty="0"/>
              <a:t>-</a:t>
            </a:r>
            <a:r>
              <a:rPr lang="zh-TW" altLang="en-US" sz="3733" dirty="0">
                <a:solidFill>
                  <a:srgbClr val="FFC000"/>
                </a:solidFill>
              </a:rPr>
              <a:t>簡化流程</a:t>
            </a:r>
          </a:p>
        </p:txBody>
      </p:sp>
      <p:graphicFrame>
        <p:nvGraphicFramePr>
          <p:cNvPr id="25" name="資料庫圖表 24">
            <a:extLst>
              <a:ext uri="{FF2B5EF4-FFF2-40B4-BE49-F238E27FC236}">
                <a16:creationId xmlns:a16="http://schemas.microsoft.com/office/drawing/2014/main" id="{EE9D5B1B-98E4-46C3-92CC-E3BBC3B12D1C}"/>
              </a:ext>
            </a:extLst>
          </p:cNvPr>
          <p:cNvGraphicFramePr/>
          <p:nvPr/>
        </p:nvGraphicFramePr>
        <p:xfrm>
          <a:off x="551384" y="3024251"/>
          <a:ext cx="11142821" cy="571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81317DFA-902D-42CB-87DA-84224C39B6B2}"/>
              </a:ext>
            </a:extLst>
          </p:cNvPr>
          <p:cNvSpPr/>
          <p:nvPr/>
        </p:nvSpPr>
        <p:spPr>
          <a:xfrm>
            <a:off x="6222119" y="2998829"/>
            <a:ext cx="1637904" cy="1253052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二次加工</a:t>
            </a:r>
            <a:b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需數天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週時間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455CAE1F-BECA-473A-8411-C8BF629FC14D}"/>
              </a:ext>
            </a:extLst>
          </p:cNvPr>
          <p:cNvSpPr/>
          <p:nvPr/>
        </p:nvSpPr>
        <p:spPr>
          <a:xfrm>
            <a:off x="2602413" y="2998831"/>
            <a:ext cx="1555402" cy="1244494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圖面尺寸標示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需要數天時間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BC82FA8E-B0E6-49E0-880C-F2851AF34F0A}"/>
              </a:ext>
            </a:extLst>
          </p:cNvPr>
          <p:cNvSpPr/>
          <p:nvPr/>
        </p:nvSpPr>
        <p:spPr>
          <a:xfrm>
            <a:off x="4338009" y="2990274"/>
            <a:ext cx="1764021" cy="1253052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模具製造</a:t>
            </a:r>
            <a:b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需數週</a:t>
            </a:r>
            <a:r>
              <a:rPr lang="en-US" altLang="zh-TW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/</a:t>
            </a:r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月時間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9" name="箭號: 向右 28">
            <a:extLst>
              <a:ext uri="{FF2B5EF4-FFF2-40B4-BE49-F238E27FC236}">
                <a16:creationId xmlns:a16="http://schemas.microsoft.com/office/drawing/2014/main" id="{67C26881-A542-480E-A993-609E7CA8DCF0}"/>
              </a:ext>
            </a:extLst>
          </p:cNvPr>
          <p:cNvSpPr/>
          <p:nvPr/>
        </p:nvSpPr>
        <p:spPr>
          <a:xfrm rot="5400000">
            <a:off x="6008943" y="4478992"/>
            <a:ext cx="426351" cy="341081"/>
          </a:xfrm>
          <a:prstGeom prst="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867" dirty="0"/>
          </a:p>
        </p:txBody>
      </p:sp>
      <p:graphicFrame>
        <p:nvGraphicFramePr>
          <p:cNvPr id="30" name="資料庫圖表 29">
            <a:extLst>
              <a:ext uri="{FF2B5EF4-FFF2-40B4-BE49-F238E27FC236}">
                <a16:creationId xmlns:a16="http://schemas.microsoft.com/office/drawing/2014/main" id="{A647799A-26D6-4C0B-BFA4-AA5768B81E75}"/>
              </a:ext>
            </a:extLst>
          </p:cNvPr>
          <p:cNvGraphicFramePr/>
          <p:nvPr/>
        </p:nvGraphicFramePr>
        <p:xfrm>
          <a:off x="551384" y="5013176"/>
          <a:ext cx="7536393" cy="5714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EB2BABE8-83D1-445C-AF20-AD4F7DCFB463}"/>
              </a:ext>
            </a:extLst>
          </p:cNvPr>
          <p:cNvSpPr/>
          <p:nvPr/>
        </p:nvSpPr>
        <p:spPr>
          <a:xfrm>
            <a:off x="2602413" y="5038576"/>
            <a:ext cx="1555402" cy="1485332"/>
          </a:xfrm>
          <a:prstGeom prst="round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列印物件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16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僅需數小時至數天時間</a:t>
            </a:r>
            <a:endParaRPr lang="en-US" altLang="zh-TW" sz="1600" b="1" dirty="0">
              <a:solidFill>
                <a:srgbClr val="C0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ABC188E-63F3-46D5-83BE-184CA6795C71}"/>
              </a:ext>
            </a:extLst>
          </p:cNvPr>
          <p:cNvSpPr/>
          <p:nvPr/>
        </p:nvSpPr>
        <p:spPr>
          <a:xfrm>
            <a:off x="516926" y="2426878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傳統零件製造流程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AF8B1F4-F28D-4366-B049-068464A1A72F}"/>
              </a:ext>
            </a:extLst>
          </p:cNvPr>
          <p:cNvSpPr/>
          <p:nvPr/>
        </p:nvSpPr>
        <p:spPr>
          <a:xfrm>
            <a:off x="584796" y="4431183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400" b="1" dirty="0">
                <a:latin typeface="微軟正黑體" pitchFamily="34" charset="-120"/>
                <a:ea typeface="微軟正黑體" pitchFamily="34" charset="-120"/>
              </a:rPr>
              <a:t>增材製造流程</a:t>
            </a:r>
          </a:p>
        </p:txBody>
      </p:sp>
    </p:spTree>
    <p:extLst>
      <p:ext uri="{BB962C8B-B14F-4D97-AF65-F5344CB8AC3E}">
        <p14:creationId xmlns:p14="http://schemas.microsoft.com/office/powerpoint/2010/main" val="1905225097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27D149B3-0EAB-428F-8E8F-8562B824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8448938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材料物性</a:t>
            </a:r>
            <a:r>
              <a:rPr lang="en-US" altLang="zh-TW" sz="3733" dirty="0"/>
              <a:t>-</a:t>
            </a:r>
            <a:r>
              <a:rPr lang="en-US" altLang="zh-TW" sz="3733" dirty="0">
                <a:solidFill>
                  <a:srgbClr val="FFC000"/>
                </a:solidFill>
              </a:rPr>
              <a:t>White V5</a:t>
            </a:r>
            <a:r>
              <a:rPr lang="zh-TW" altLang="en-US" sz="3733" dirty="0">
                <a:solidFill>
                  <a:srgbClr val="FFC000"/>
                </a:solidFill>
              </a:rPr>
              <a:t>材料說明</a:t>
            </a:r>
          </a:p>
        </p:txBody>
      </p:sp>
      <p:pic>
        <p:nvPicPr>
          <p:cNvPr id="2" name="圖片 1">
            <a:extLst>
              <a:ext uri="{FF2B5EF4-FFF2-40B4-BE49-F238E27FC236}" cx="NaN" cy="NaN">
                <a16:creationId xmlns:a16="http://schemas.microsoft.com/office/drawing/2014/main" id="{087DD9FB-4EE2-4F78-AA50-931D04748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NaN" y="NaN"/>
            <a:ext cx="4090019" cy="341321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 cx="NaN" cy="NaN">
                <a16:creationId xmlns:a16="http://schemas.microsoft.com/office/drawing/2014/main" id="{E4AF94E2-B00C-457A-BD1C-BFEE93DD9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NaN" y="NaN"/>
            <a:ext cx="783946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61296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DCF83F5-5037-4726-B51D-50EDB2AE7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448627"/>
              </p:ext>
            </p:extLst>
          </p:nvPr>
        </p:nvGraphicFramePr>
        <p:xfrm>
          <a:off x="109609" y="938246"/>
          <a:ext cx="11974206" cy="5864847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821078">
                  <a:extLst>
                    <a:ext uri="{9D8B030D-6E8A-4147-A177-3AD203B41FA5}">
                      <a16:colId xmlns:a16="http://schemas.microsoft.com/office/drawing/2014/main" val="3246299501"/>
                    </a:ext>
                  </a:extLst>
                </a:gridCol>
                <a:gridCol w="1386154">
                  <a:extLst>
                    <a:ext uri="{9D8B030D-6E8A-4147-A177-3AD203B41FA5}">
                      <a16:colId xmlns:a16="http://schemas.microsoft.com/office/drawing/2014/main" val="1744799432"/>
                    </a:ext>
                  </a:extLst>
                </a:gridCol>
                <a:gridCol w="1386154">
                  <a:extLst>
                    <a:ext uri="{9D8B030D-6E8A-4147-A177-3AD203B41FA5}">
                      <a16:colId xmlns:a16="http://schemas.microsoft.com/office/drawing/2014/main" val="400359620"/>
                    </a:ext>
                  </a:extLst>
                </a:gridCol>
                <a:gridCol w="1386154">
                  <a:extLst>
                    <a:ext uri="{9D8B030D-6E8A-4147-A177-3AD203B41FA5}">
                      <a16:colId xmlns:a16="http://schemas.microsoft.com/office/drawing/2014/main" val="3915492426"/>
                    </a:ext>
                  </a:extLst>
                </a:gridCol>
                <a:gridCol w="1458162">
                  <a:extLst>
                    <a:ext uri="{9D8B030D-6E8A-4147-A177-3AD203B41FA5}">
                      <a16:colId xmlns:a16="http://schemas.microsoft.com/office/drawing/2014/main" val="2909900261"/>
                    </a:ext>
                  </a:extLst>
                </a:gridCol>
                <a:gridCol w="4536504">
                  <a:extLst>
                    <a:ext uri="{9D8B030D-6E8A-4147-A177-3AD203B41FA5}">
                      <a16:colId xmlns:a16="http://schemas.microsoft.com/office/drawing/2014/main" val="4123392029"/>
                    </a:ext>
                  </a:extLst>
                </a:gridCol>
              </a:tblGrid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評估機型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Formlabs Form4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10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373377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列印材料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Clear Resin V5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676591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模型呈現重點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材料性能、尺寸精度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1446776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如何測試樣件精度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通過裝配檢測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751918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表面處理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表面打磨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096463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精度標準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±0.05 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3923917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列印層數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3450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3451241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列印層厚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0.05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  <a:endParaRPr lang="zh-TW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6078314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材料用量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45.3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ml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7564779"/>
                  </a:ext>
                </a:extLst>
              </a:tr>
              <a:tr h="582223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列印時間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h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30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0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min</a:t>
                      </a:r>
                      <a:endParaRPr lang="zh-TW" altLang="zh-TW" sz="1400" b="0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4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9792256"/>
                  </a:ext>
                </a:extLst>
              </a:tr>
            </a:tbl>
          </a:graphicData>
        </a:graphic>
      </p:graphicFrame>
      <p:sp>
        <p:nvSpPr>
          <p:cNvPr id="15" name="標題 1">
            <a:extLst>
              <a:ext uri="{FF2B5EF4-FFF2-40B4-BE49-F238E27FC236}">
                <a16:creationId xmlns:a16="http://schemas.microsoft.com/office/drawing/2014/main" id="{27D149B3-0EAB-428F-8E8F-8562B824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11041226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列印確認</a:t>
            </a:r>
            <a:r>
              <a:rPr lang="en-US" altLang="zh-TW" sz="3733" dirty="0"/>
              <a:t>-</a:t>
            </a:r>
            <a:r>
              <a:rPr lang="zh-TW" altLang="en-US" sz="3733" dirty="0">
                <a:solidFill>
                  <a:srgbClr val="FFC000"/>
                </a:solidFill>
              </a:rPr>
              <a:t>評估標準</a:t>
            </a:r>
            <a:r>
              <a:rPr lang="en-US" altLang="zh-TW" sz="3733" dirty="0">
                <a:solidFill>
                  <a:srgbClr val="FFC000"/>
                </a:solidFill>
              </a:rPr>
              <a:t>/</a:t>
            </a:r>
            <a:r>
              <a:rPr lang="zh-TW" altLang="en-US" sz="3733" dirty="0">
                <a:solidFill>
                  <a:srgbClr val="FFC000"/>
                </a:solidFill>
              </a:rPr>
              <a:t>時間</a:t>
            </a:r>
            <a:r>
              <a:rPr lang="en-US" altLang="zh-TW" sz="3733" dirty="0">
                <a:solidFill>
                  <a:srgbClr val="FFC000"/>
                </a:solidFill>
              </a:rPr>
              <a:t>/</a:t>
            </a:r>
            <a:r>
              <a:rPr lang="zh-TW" altLang="en-US" sz="3733" dirty="0">
                <a:solidFill>
                  <a:srgbClr val="FFC000"/>
                </a:solidFill>
              </a:rPr>
              <a:t>材料用量說明</a:t>
            </a: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001" name="dgpic90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NaN" y="NaN"/>
            <a:ext cx="NaN" cy="NaN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12093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27D149B3-0EAB-428F-8E8F-8562B824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8448938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列印確認</a:t>
            </a:r>
            <a:r>
              <a:rPr lang="en-US" altLang="zh-TW" sz="3733" dirty="0"/>
              <a:t>-</a:t>
            </a:r>
            <a:r>
              <a:rPr lang="zh-TW" altLang="en-US" sz="3733" dirty="0">
                <a:solidFill>
                  <a:srgbClr val="FFC000"/>
                </a:solidFill>
              </a:rPr>
              <a:t>尺寸量測結果說明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DF3C6A2-6AC9-495F-B9B6-48F61B0BB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2790531"/>
              </p:ext>
            </p:extLst>
          </p:nvPr>
        </p:nvGraphicFramePr>
        <p:xfrm>
          <a:off x="119336" y="1016691"/>
          <a:ext cx="11953330" cy="576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67952">
                  <a:extLst>
                    <a:ext uri="{9D8B030D-6E8A-4147-A177-3AD203B41FA5}">
                      <a16:colId xmlns:a16="http://schemas.microsoft.com/office/drawing/2014/main" val="3246299501"/>
                    </a:ext>
                  </a:extLst>
                </a:gridCol>
                <a:gridCol w="2636504">
                  <a:extLst>
                    <a:ext uri="{9D8B030D-6E8A-4147-A177-3AD203B41FA5}">
                      <a16:colId xmlns:a16="http://schemas.microsoft.com/office/drawing/2014/main" val="1744799432"/>
                    </a:ext>
                  </a:extLst>
                </a:gridCol>
                <a:gridCol w="858622">
                  <a:extLst>
                    <a:ext uri="{9D8B030D-6E8A-4147-A177-3AD203B41FA5}">
                      <a16:colId xmlns:a16="http://schemas.microsoft.com/office/drawing/2014/main" val="547588062"/>
                    </a:ext>
                  </a:extLst>
                </a:gridCol>
                <a:gridCol w="2669770">
                  <a:extLst>
                    <a:ext uri="{9D8B030D-6E8A-4147-A177-3AD203B41FA5}">
                      <a16:colId xmlns:a16="http://schemas.microsoft.com/office/drawing/2014/main" val="612547099"/>
                    </a:ext>
                  </a:extLst>
                </a:gridCol>
                <a:gridCol w="825356">
                  <a:extLst>
                    <a:ext uri="{9D8B030D-6E8A-4147-A177-3AD203B41FA5}">
                      <a16:colId xmlns:a16="http://schemas.microsoft.com/office/drawing/2014/main" val="1196070784"/>
                    </a:ext>
                  </a:extLst>
                </a:gridCol>
                <a:gridCol w="2703036">
                  <a:extLst>
                    <a:ext uri="{9D8B030D-6E8A-4147-A177-3AD203B41FA5}">
                      <a16:colId xmlns:a16="http://schemas.microsoft.com/office/drawing/2014/main" val="3595771831"/>
                    </a:ext>
                  </a:extLst>
                </a:gridCol>
                <a:gridCol w="792090">
                  <a:extLst>
                    <a:ext uri="{9D8B030D-6E8A-4147-A177-3AD203B41FA5}">
                      <a16:colId xmlns:a16="http://schemas.microsoft.com/office/drawing/2014/main" val="1301166220"/>
                    </a:ext>
                  </a:extLst>
                </a:gridCol>
              </a:tblGrid>
              <a:tr h="3168000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67659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RP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規範公差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±0.05 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±0.05 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±0.05 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7508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CAD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14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34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02391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量測尺寸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13.95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34.06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2.47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00529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是否通過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是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否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是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874959"/>
                  </a:ext>
                </a:extLst>
              </a:tr>
            </a:tbl>
          </a:graphicData>
        </a:graphic>
      </p:graphicFrame>
      <p:pic xmlns:p="http://schemas.openxmlformats.org/presentationml/2006/main" xmlns:a="http://schemas.openxmlformats.org/drawingml/2006/main" xmlns:r="http://schemas.openxmlformats.org/officeDocument/2006/relationships">
        <p:nvPicPr>
          <p:cNvPr id="9002" name="dgpic900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288" y="1380019"/>
            <a:ext cx="3255126" cy="2441345"/>
          </a:xfrm>
          <a:prstGeom prst="rect">
            <a:avLst/>
          </a:prstGeom>
        </p:spPr>
      </p:pic>
      <p:pic xmlns:p="http://schemas.openxmlformats.org/presentationml/2006/main" xmlns:a="http://schemas.openxmlformats.org/drawingml/2006/main" xmlns:r="http://schemas.openxmlformats.org/officeDocument/2006/relationships">
        <p:nvPicPr>
          <p:cNvPr id="9003" name="dgpic900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1977" y="1136691"/>
            <a:ext cx="2196000" cy="29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107469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27D149B3-0EAB-428F-8E8F-8562B824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8448938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列印確認</a:t>
            </a:r>
            <a:r>
              <a:rPr lang="en-US" altLang="zh-TW" sz="3733" dirty="0"/>
              <a:t>-</a:t>
            </a:r>
            <a:r>
              <a:rPr lang="zh-TW" altLang="en-US" sz="3733" dirty="0">
                <a:solidFill>
                  <a:srgbClr val="FFC000"/>
                </a:solidFill>
              </a:rPr>
              <a:t>尺寸量測結果說明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4DF3C6A2-6AC9-495F-B9B6-48F61B0BB5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825268"/>
              </p:ext>
            </p:extLst>
          </p:nvPr>
        </p:nvGraphicFramePr>
        <p:xfrm>
          <a:off x="119336" y="1016691"/>
          <a:ext cx="11953330" cy="57600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67952">
                  <a:extLst>
                    <a:ext uri="{9D8B030D-6E8A-4147-A177-3AD203B41FA5}">
                      <a16:colId xmlns:a16="http://schemas.microsoft.com/office/drawing/2014/main" val="3246299501"/>
                    </a:ext>
                  </a:extLst>
                </a:gridCol>
                <a:gridCol w="2636504">
                  <a:extLst>
                    <a:ext uri="{9D8B030D-6E8A-4147-A177-3AD203B41FA5}">
                      <a16:colId xmlns:a16="http://schemas.microsoft.com/office/drawing/2014/main" val="1744799432"/>
                    </a:ext>
                  </a:extLst>
                </a:gridCol>
                <a:gridCol w="858622">
                  <a:extLst>
                    <a:ext uri="{9D8B030D-6E8A-4147-A177-3AD203B41FA5}">
                      <a16:colId xmlns:a16="http://schemas.microsoft.com/office/drawing/2014/main" val="547588062"/>
                    </a:ext>
                  </a:extLst>
                </a:gridCol>
                <a:gridCol w="2669770">
                  <a:extLst>
                    <a:ext uri="{9D8B030D-6E8A-4147-A177-3AD203B41FA5}">
                      <a16:colId xmlns:a16="http://schemas.microsoft.com/office/drawing/2014/main" val="612547099"/>
                    </a:ext>
                  </a:extLst>
                </a:gridCol>
                <a:gridCol w="825356">
                  <a:extLst>
                    <a:ext uri="{9D8B030D-6E8A-4147-A177-3AD203B41FA5}">
                      <a16:colId xmlns:a16="http://schemas.microsoft.com/office/drawing/2014/main" val="1196070784"/>
                    </a:ext>
                  </a:extLst>
                </a:gridCol>
                <a:gridCol w="2703036">
                  <a:extLst>
                    <a:ext uri="{9D8B030D-6E8A-4147-A177-3AD203B41FA5}">
                      <a16:colId xmlns:a16="http://schemas.microsoft.com/office/drawing/2014/main" val="3595771831"/>
                    </a:ext>
                  </a:extLst>
                </a:gridCol>
                <a:gridCol w="792090">
                  <a:extLst>
                    <a:ext uri="{9D8B030D-6E8A-4147-A177-3AD203B41FA5}">
                      <a16:colId xmlns:a16="http://schemas.microsoft.com/office/drawing/2014/main" val="1301166220"/>
                    </a:ext>
                  </a:extLst>
                </a:gridCol>
              </a:tblGrid>
              <a:tr h="3168000">
                <a:tc>
                  <a:txBody>
                    <a:bodyPr/>
                    <a:lstStyle/>
                    <a:p>
                      <a:pPr algn="ctr"/>
                      <a:endParaRPr lang="zh-TW" altLang="en-US" sz="1400" b="1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867659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RP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規範公差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±0.05 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875080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CAD</a:t>
                      </a: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尺寸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50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mm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1023910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量測尺寸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50.02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zh-TW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zh-TW" sz="1600" b="1" kern="120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005297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400" b="1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是否通過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是</a:t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400" b="1" kern="120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/>
                      </a:r>
                    </a:p>
                  </a:txBody>
                  <a:tcPr marL="121920" marR="121920" marT="60960" marB="609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7874959"/>
                  </a:ext>
                </a:extLst>
              </a:tr>
            </a:tbl>
          </a:graphicData>
        </a:graphic>
      </p:graphicFrame>
      <p:pic xmlns:p="http://schemas.openxmlformats.org/presentationml/2006/main" xmlns:a="http://schemas.openxmlformats.org/drawingml/2006/main" xmlns:r="http://schemas.openxmlformats.org/officeDocument/2006/relationships">
        <p:nvPicPr>
          <p:cNvPr id="9004" name="dgpic90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288" y="1380019"/>
            <a:ext cx="3255126" cy="2441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880658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矩形 41">
            <a:extLst>
              <a:ext uri="{FF2B5EF4-FFF2-40B4-BE49-F238E27FC236}">
                <a16:creationId xmlns:a16="http://schemas.microsoft.com/office/drawing/2014/main" id="{198F6169-6DFB-4148-A501-5E48112D6D63}"/>
              </a:ext>
            </a:extLst>
          </p:cNvPr>
          <p:cNvSpPr/>
          <p:nvPr/>
        </p:nvSpPr>
        <p:spPr>
          <a:xfrm>
            <a:off x="0" y="0"/>
            <a:ext cx="12192000" cy="4308380"/>
          </a:xfrm>
          <a:prstGeom prst="rect">
            <a:avLst/>
          </a:prstGeom>
          <a:solidFill>
            <a:srgbClr val="044B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941" y="5099692"/>
            <a:ext cx="12190119" cy="1758309"/>
          </a:xfrm>
          <a:prstGeom prst="rect">
            <a:avLst/>
          </a:prstGeom>
          <a:solidFill>
            <a:srgbClr val="4A5B7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pic>
        <p:nvPicPr>
          <p:cNvPr id="38" name="Рисунок 23">
            <a:hlinkClick r:id="rId3"/>
            <a:extLst>
              <a:ext uri="{FF2B5EF4-FFF2-40B4-BE49-F238E27FC236}">
                <a16:creationId xmlns:a16="http://schemas.microsoft.com/office/drawing/2014/main" id="{C44D9A8E-9CB7-4014-BA38-CE9EDEF73D0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8698" y="207285"/>
            <a:ext cx="624094" cy="472916"/>
          </a:xfrm>
          <a:prstGeom prst="rect">
            <a:avLst/>
          </a:prstGeom>
        </p:spPr>
      </p:pic>
      <p:pic>
        <p:nvPicPr>
          <p:cNvPr id="39" name="Рисунок 24">
            <a:hlinkClick r:id="rId5"/>
            <a:extLst>
              <a:ext uri="{FF2B5EF4-FFF2-40B4-BE49-F238E27FC236}">
                <a16:creationId xmlns:a16="http://schemas.microsoft.com/office/drawing/2014/main" id="{A2810FF7-FD73-4F6D-ACF8-56ABCA96142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7566" y="224395"/>
            <a:ext cx="438696" cy="438695"/>
          </a:xfrm>
          <a:prstGeom prst="rect">
            <a:avLst/>
          </a:prstGeom>
        </p:spPr>
      </p:pic>
      <p:pic>
        <p:nvPicPr>
          <p:cNvPr id="40" name="Рисунок 25">
            <a:hlinkClick r:id="rId7"/>
            <a:extLst>
              <a:ext uri="{FF2B5EF4-FFF2-40B4-BE49-F238E27FC236}">
                <a16:creationId xmlns:a16="http://schemas.microsoft.com/office/drawing/2014/main" id="{20E0CD66-B111-4C8D-AF2E-4326684F59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05848" y="229940"/>
            <a:ext cx="427607" cy="427604"/>
          </a:xfrm>
          <a:prstGeom prst="rect">
            <a:avLst/>
          </a:prstGeom>
        </p:spPr>
      </p:pic>
      <p:grpSp>
        <p:nvGrpSpPr>
          <p:cNvPr id="49" name="群組 48">
            <a:extLst>
              <a:ext uri="{FF2B5EF4-FFF2-40B4-BE49-F238E27FC236}">
                <a16:creationId xmlns:a16="http://schemas.microsoft.com/office/drawing/2014/main" id="{F2E35810-3235-4D3D-BC57-D6FD0570E383}"/>
              </a:ext>
            </a:extLst>
          </p:cNvPr>
          <p:cNvGrpSpPr/>
          <p:nvPr/>
        </p:nvGrpSpPr>
        <p:grpSpPr>
          <a:xfrm>
            <a:off x="8521002" y="809328"/>
            <a:ext cx="3421790" cy="488675"/>
            <a:chOff x="7943116" y="715936"/>
            <a:chExt cx="3828754" cy="546795"/>
          </a:xfrm>
        </p:grpSpPr>
        <p:grpSp>
          <p:nvGrpSpPr>
            <p:cNvPr id="43" name="群組 42">
              <a:extLst>
                <a:ext uri="{FF2B5EF4-FFF2-40B4-BE49-F238E27FC236}">
                  <a16:creationId xmlns:a16="http://schemas.microsoft.com/office/drawing/2014/main" id="{2D356565-8E58-42EA-9968-868D83209357}"/>
                </a:ext>
              </a:extLst>
            </p:cNvPr>
            <p:cNvGrpSpPr/>
            <p:nvPr/>
          </p:nvGrpSpPr>
          <p:grpSpPr>
            <a:xfrm>
              <a:off x="7943116" y="715936"/>
              <a:ext cx="3828754" cy="546795"/>
              <a:chOff x="2129158" y="2402448"/>
              <a:chExt cx="6497280" cy="925275"/>
            </a:xfrm>
          </p:grpSpPr>
          <p:sp>
            <p:nvSpPr>
              <p:cNvPr id="44" name="圓角矩形 7">
                <a:extLst>
                  <a:ext uri="{FF2B5EF4-FFF2-40B4-BE49-F238E27FC236}">
                    <a16:creationId xmlns:a16="http://schemas.microsoft.com/office/drawing/2014/main" id="{C58085B6-126C-423E-AFB4-60F7FCAC2686}"/>
                  </a:ext>
                </a:extLst>
              </p:cNvPr>
              <p:cNvSpPr/>
              <p:nvPr/>
            </p:nvSpPr>
            <p:spPr>
              <a:xfrm>
                <a:off x="2129158" y="2402448"/>
                <a:ext cx="6497280" cy="925275"/>
              </a:xfrm>
              <a:prstGeom prst="roundRect">
                <a:avLst>
                  <a:gd name="adj" fmla="val 20785"/>
                </a:avLst>
              </a:prstGeom>
              <a:solidFill>
                <a:schemeClr val="bg1">
                  <a:alpha val="1000"/>
                </a:schemeClr>
              </a:solidFill>
              <a:ln w="57150">
                <a:solidFill>
                  <a:schemeClr val="bg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dirty="0">
                  <a:solidFill>
                    <a:schemeClr val="bg2"/>
                  </a:solidFill>
                </a:endParaRPr>
              </a:p>
            </p:txBody>
          </p:sp>
          <p:grpSp>
            <p:nvGrpSpPr>
              <p:cNvPr id="45" name="群組 44">
                <a:extLst>
                  <a:ext uri="{FF2B5EF4-FFF2-40B4-BE49-F238E27FC236}">
                    <a16:creationId xmlns:a16="http://schemas.microsoft.com/office/drawing/2014/main" id="{0DB64DB1-9595-4C3E-B552-A276D81440F1}"/>
                  </a:ext>
                </a:extLst>
              </p:cNvPr>
              <p:cNvGrpSpPr/>
              <p:nvPr/>
            </p:nvGrpSpPr>
            <p:grpSpPr>
              <a:xfrm>
                <a:off x="2347433" y="2639826"/>
                <a:ext cx="504056" cy="459434"/>
                <a:chOff x="2347433" y="2639826"/>
                <a:chExt cx="504056" cy="459434"/>
              </a:xfrm>
            </p:grpSpPr>
            <p:sp>
              <p:nvSpPr>
                <p:cNvPr id="46" name="橢圓 45">
                  <a:extLst>
                    <a:ext uri="{FF2B5EF4-FFF2-40B4-BE49-F238E27FC236}">
                      <a16:creationId xmlns:a16="http://schemas.microsoft.com/office/drawing/2014/main" id="{F1A4BD43-0C1A-499C-8637-588510E38AB9}"/>
                    </a:ext>
                  </a:extLst>
                </p:cNvPr>
                <p:cNvSpPr/>
                <p:nvPr/>
              </p:nvSpPr>
              <p:spPr>
                <a:xfrm>
                  <a:off x="2347433" y="2639826"/>
                  <a:ext cx="432048" cy="432049"/>
                </a:xfrm>
                <a:prstGeom prst="ellipse">
                  <a:avLst/>
                </a:prstGeom>
                <a:noFill/>
                <a:ln w="28575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>
                    <a:solidFill>
                      <a:schemeClr val="bg2"/>
                    </a:solidFill>
                  </a:endParaRPr>
                </a:p>
              </p:txBody>
            </p:sp>
            <p:cxnSp>
              <p:nvCxnSpPr>
                <p:cNvPr id="47" name="直線接點 46">
                  <a:extLst>
                    <a:ext uri="{FF2B5EF4-FFF2-40B4-BE49-F238E27FC236}">
                      <a16:creationId xmlns:a16="http://schemas.microsoft.com/office/drawing/2014/main" id="{1F07F32D-3690-490F-A548-5CAB9B8D55DC}"/>
                    </a:ext>
                  </a:extLst>
                </p:cNvPr>
                <p:cNvCxnSpPr/>
                <p:nvPr/>
              </p:nvCxnSpPr>
              <p:spPr>
                <a:xfrm>
                  <a:off x="2749880" y="3011679"/>
                  <a:ext cx="101609" cy="87581"/>
                </a:xfrm>
                <a:prstGeom prst="line">
                  <a:avLst/>
                </a:prstGeom>
                <a:ln w="28575" cap="rnd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8" name="矩形 47">
              <a:hlinkClick r:id="rId9"/>
              <a:extLst>
                <a:ext uri="{FF2B5EF4-FFF2-40B4-BE49-F238E27FC236}">
                  <a16:creationId xmlns:a16="http://schemas.microsoft.com/office/drawing/2014/main" id="{BD51B164-5369-4EC7-9404-CCCD33BB0A10}"/>
                </a:ext>
              </a:extLst>
            </p:cNvPr>
            <p:cNvSpPr/>
            <p:nvPr/>
          </p:nvSpPr>
          <p:spPr>
            <a:xfrm>
              <a:off x="8380281" y="809259"/>
              <a:ext cx="21307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實威國際</a:t>
              </a:r>
              <a:r>
                <a:rPr lang="en-US" altLang="zh-TW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-</a:t>
              </a:r>
              <a:r>
                <a:rPr lang="zh-TW" altLang="en-US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硬體專區</a:t>
              </a: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8960F122-3089-4CBC-80C3-B9320878CC31}"/>
              </a:ext>
            </a:extLst>
          </p:cNvPr>
          <p:cNvSpPr/>
          <p:nvPr/>
        </p:nvSpPr>
        <p:spPr>
          <a:xfrm>
            <a:off x="9807808" y="1408368"/>
            <a:ext cx="222368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技術支援</a:t>
            </a:r>
            <a:r>
              <a:rPr lang="en-US" altLang="zh-TW" sz="1400" b="1" dirty="0">
                <a:solidFill>
                  <a:srgbClr val="FFFFFF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 </a:t>
            </a:r>
            <a:r>
              <a:rPr lang="en-US" altLang="zh-TW" sz="1400" b="1" dirty="0">
                <a:solidFill>
                  <a:schemeClr val="bg2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0800-868-358</a:t>
            </a:r>
            <a:endParaRPr lang="zh-TW" altLang="en-US" sz="1400" b="1" dirty="0">
              <a:solidFill>
                <a:schemeClr val="bg2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hlinkClick r:id="rId10"/>
            <a:extLst>
              <a:ext uri="{FF2B5EF4-FFF2-40B4-BE49-F238E27FC236}">
                <a16:creationId xmlns:a16="http://schemas.microsoft.com/office/drawing/2014/main" id="{DDBC6964-5BC8-4F43-A9B3-3712C72AF27D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9113" y="218849"/>
            <a:ext cx="438695" cy="438695"/>
          </a:xfrm>
          <a:prstGeom prst="rect">
            <a:avLst/>
          </a:prstGeom>
        </p:spPr>
      </p:pic>
      <p:grpSp>
        <p:nvGrpSpPr>
          <p:cNvPr id="10" name="群組 9">
            <a:extLst>
              <a:ext uri="{FF2B5EF4-FFF2-40B4-BE49-F238E27FC236}">
                <a16:creationId xmlns:a16="http://schemas.microsoft.com/office/drawing/2014/main" id="{0EA72EA2-61D1-4B4A-850A-4D9136B85812}"/>
              </a:ext>
            </a:extLst>
          </p:cNvPr>
          <p:cNvGrpSpPr/>
          <p:nvPr/>
        </p:nvGrpSpPr>
        <p:grpSpPr>
          <a:xfrm>
            <a:off x="430078" y="519446"/>
            <a:ext cx="2946277" cy="810350"/>
            <a:chOff x="249208" y="514041"/>
            <a:chExt cx="2946277" cy="810350"/>
          </a:xfrm>
        </p:grpSpPr>
        <p:sp>
          <p:nvSpPr>
            <p:cNvPr id="3" name="TextBox 2"/>
            <p:cNvSpPr txBox="1"/>
            <p:nvPr/>
          </p:nvSpPr>
          <p:spPr>
            <a:xfrm>
              <a:off x="561255" y="514041"/>
              <a:ext cx="2634230" cy="81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4666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 Light" panose="020B0306030504020204" pitchFamily="34" charset="0"/>
                </a:rPr>
                <a:t>聯絡我們</a:t>
              </a:r>
              <a:endParaRPr lang="ru-RU" sz="4666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Open Sans Light" panose="020B0306030504020204" pitchFamily="34" charset="0"/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D4E80F9-B06A-4F46-AA1A-80B2BAE33A39}"/>
                </a:ext>
              </a:extLst>
            </p:cNvPr>
            <p:cNvSpPr/>
            <p:nvPr/>
          </p:nvSpPr>
          <p:spPr>
            <a:xfrm>
              <a:off x="249208" y="637448"/>
              <a:ext cx="360772" cy="505337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37" name="矩形 36">
            <a:extLst>
              <a:ext uri="{FF2B5EF4-FFF2-40B4-BE49-F238E27FC236}">
                <a16:creationId xmlns:a16="http://schemas.microsoft.com/office/drawing/2014/main" id="{0BBB173B-9E8E-4573-9F9A-55D093EC95EA}"/>
              </a:ext>
            </a:extLst>
          </p:cNvPr>
          <p:cNvSpPr/>
          <p:nvPr/>
        </p:nvSpPr>
        <p:spPr>
          <a:xfrm>
            <a:off x="0" y="1754367"/>
            <a:ext cx="12192000" cy="7440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4BAF2DD-6553-4044-94BA-AA07C4328161}"/>
              </a:ext>
            </a:extLst>
          </p:cNvPr>
          <p:cNvGrpSpPr/>
          <p:nvPr/>
        </p:nvGrpSpPr>
        <p:grpSpPr>
          <a:xfrm>
            <a:off x="191344" y="5330437"/>
            <a:ext cx="13738122" cy="1211674"/>
            <a:chOff x="191344" y="5330437"/>
            <a:chExt cx="13738122" cy="1211674"/>
          </a:xfrm>
        </p:grpSpPr>
        <p:grpSp>
          <p:nvGrpSpPr>
            <p:cNvPr id="18" name="群組 17">
              <a:extLst>
                <a:ext uri="{FF2B5EF4-FFF2-40B4-BE49-F238E27FC236}">
                  <a16:creationId xmlns:a16="http://schemas.microsoft.com/office/drawing/2014/main" id="{E66C1C31-DBAB-4ADC-AE8C-241D17A5BE0C}"/>
                </a:ext>
              </a:extLst>
            </p:cNvPr>
            <p:cNvGrpSpPr/>
            <p:nvPr/>
          </p:nvGrpSpPr>
          <p:grpSpPr>
            <a:xfrm>
              <a:off x="191344" y="5330437"/>
              <a:ext cx="4521098" cy="1211674"/>
              <a:chOff x="64466" y="5313670"/>
              <a:chExt cx="4521098" cy="1211674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64466" y="5600861"/>
                <a:ext cx="4521098" cy="335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239976">
                  <a:lnSpc>
                    <a:spcPct val="150000"/>
                  </a:lnSpc>
                </a:pPr>
                <a:r>
                  <a:rPr lang="zh-TW" altLang="en-US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臺北市內湖區行愛路</a:t>
                </a: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78</a:t>
                </a:r>
                <a:r>
                  <a:rPr lang="zh-TW" altLang="en-US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巷</a:t>
                </a: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28</a:t>
                </a:r>
                <a:r>
                  <a:rPr lang="zh-TW" altLang="en-US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號</a:t>
                </a: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5</a:t>
                </a:r>
                <a:r>
                  <a:rPr lang="zh-TW" altLang="en-US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樓之</a:t>
                </a: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5</a:t>
                </a:r>
                <a:r>
                  <a:rPr lang="ru-RU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.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64466" y="5313670"/>
                <a:ext cx="2033836" cy="369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Open Sans" panose="020B0606030504020204" pitchFamily="34" charset="0"/>
                  </a:rPr>
                  <a:t>台北設備總部</a:t>
                </a:r>
                <a:endParaRPr lang="ru-RU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2421908C-263C-496A-8924-4A95199C7328}"/>
                  </a:ext>
                </a:extLst>
              </p:cNvPr>
              <p:cNvSpPr/>
              <p:nvPr/>
            </p:nvSpPr>
            <p:spPr>
              <a:xfrm>
                <a:off x="64466" y="5912932"/>
                <a:ext cx="1805559" cy="6124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Tel: 886-2-2795-1618</a:t>
                </a:r>
                <a:b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Fax: 886-2-2795-2338</a:t>
                </a:r>
                <a:endParaRPr lang="zh-TW" altLang="en-US" sz="1200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FF89D7A6-7AE7-416C-BBC4-CF8C045A1ABF}"/>
                </a:ext>
              </a:extLst>
            </p:cNvPr>
            <p:cNvGrpSpPr/>
            <p:nvPr/>
          </p:nvGrpSpPr>
          <p:grpSpPr>
            <a:xfrm>
              <a:off x="3071664" y="5330437"/>
              <a:ext cx="4521098" cy="1211674"/>
              <a:chOff x="2910534" y="5313670"/>
              <a:chExt cx="4521098" cy="1211674"/>
            </a:xfrm>
          </p:grpSpPr>
          <p:sp>
            <p:nvSpPr>
              <p:cNvPr id="30" name="TextBox 12">
                <a:extLst>
                  <a:ext uri="{FF2B5EF4-FFF2-40B4-BE49-F238E27FC236}">
                    <a16:creationId xmlns:a16="http://schemas.microsoft.com/office/drawing/2014/main" id="{B6C59A62-77BB-48A3-AC99-01A286476B89}"/>
                  </a:ext>
                </a:extLst>
              </p:cNvPr>
              <p:cNvSpPr txBox="1"/>
              <p:nvPr/>
            </p:nvSpPr>
            <p:spPr>
              <a:xfrm>
                <a:off x="2910534" y="5600861"/>
                <a:ext cx="4521098" cy="335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defTabSz="239976">
                  <a:lnSpc>
                    <a:spcPct val="150000"/>
                  </a:lnSpc>
                  <a:defRPr sz="1667" b="1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r>
                  <a:rPr lang="zh-TW" altLang="en-US" sz="1200" dirty="0"/>
                  <a:t>台中市南屯區五權西路二段</a:t>
                </a:r>
                <a:r>
                  <a:rPr lang="en-US" altLang="zh-TW" sz="1200" dirty="0"/>
                  <a:t>236</a:t>
                </a:r>
                <a:r>
                  <a:rPr lang="zh-TW" altLang="en-US" sz="1200" dirty="0"/>
                  <a:t>號</a:t>
                </a:r>
                <a:r>
                  <a:rPr lang="en-US" altLang="zh-TW" sz="1200" dirty="0"/>
                  <a:t>15</a:t>
                </a:r>
                <a:r>
                  <a:rPr lang="zh-TW" altLang="en-US" sz="1200" dirty="0"/>
                  <a:t>樓之</a:t>
                </a:r>
                <a:r>
                  <a:rPr lang="en-US" altLang="zh-TW" sz="1200" dirty="0"/>
                  <a:t>2</a:t>
                </a:r>
                <a:endParaRPr lang="ru-RU" sz="1200" dirty="0"/>
              </a:p>
            </p:txBody>
          </p:sp>
          <p:sp>
            <p:nvSpPr>
              <p:cNvPr id="31" name="TextBox 13">
                <a:extLst>
                  <a:ext uri="{FF2B5EF4-FFF2-40B4-BE49-F238E27FC236}">
                    <a16:creationId xmlns:a16="http://schemas.microsoft.com/office/drawing/2014/main" id="{61EBD48B-537A-4022-8969-7A0E98AE6C8C}"/>
                  </a:ext>
                </a:extLst>
              </p:cNvPr>
              <p:cNvSpPr txBox="1"/>
              <p:nvPr/>
            </p:nvSpPr>
            <p:spPr>
              <a:xfrm>
                <a:off x="2910534" y="5313670"/>
                <a:ext cx="20338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Open Sans" panose="020B0606030504020204" pitchFamily="34" charset="0"/>
                  </a:rPr>
                  <a:t>台中設備分部</a:t>
                </a:r>
                <a:endParaRPr lang="ru-RU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C97EB495-3407-4832-A841-76FAAA5E8115}"/>
                  </a:ext>
                </a:extLst>
              </p:cNvPr>
              <p:cNvSpPr/>
              <p:nvPr/>
            </p:nvSpPr>
            <p:spPr>
              <a:xfrm>
                <a:off x="2910534" y="5912932"/>
                <a:ext cx="1805559" cy="6124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Tel: 886-4-2475-8008</a:t>
                </a:r>
                <a:b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Fax: 886-4-2475-8958</a:t>
                </a:r>
                <a:endParaRPr lang="zh-TW" altLang="en-US" sz="1200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1EC08A-7F41-4F8E-9B54-F0ED4B3A7FC1}"/>
                </a:ext>
              </a:extLst>
            </p:cNvPr>
            <p:cNvGrpSpPr/>
            <p:nvPr/>
          </p:nvGrpSpPr>
          <p:grpSpPr>
            <a:xfrm>
              <a:off x="6240016" y="5330437"/>
              <a:ext cx="4521098" cy="1211674"/>
              <a:chOff x="6375407" y="5313670"/>
              <a:chExt cx="4521098" cy="1211674"/>
            </a:xfrm>
          </p:grpSpPr>
          <p:sp>
            <p:nvSpPr>
              <p:cNvPr id="33" name="TextBox 12">
                <a:extLst>
                  <a:ext uri="{FF2B5EF4-FFF2-40B4-BE49-F238E27FC236}">
                    <a16:creationId xmlns:a16="http://schemas.microsoft.com/office/drawing/2014/main" id="{AFBDE8BC-8D0F-4D93-92FB-B35928AA1B3C}"/>
                  </a:ext>
                </a:extLst>
              </p:cNvPr>
              <p:cNvSpPr txBox="1"/>
              <p:nvPr/>
            </p:nvSpPr>
            <p:spPr>
              <a:xfrm>
                <a:off x="6375407" y="5600861"/>
                <a:ext cx="4521098" cy="335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defTabSz="239976">
                  <a:lnSpc>
                    <a:spcPct val="150000"/>
                  </a:lnSpc>
                  <a:defRPr sz="1667" b="1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r>
                  <a:rPr lang="zh-TW" altLang="en-US" sz="1200" dirty="0"/>
                  <a:t>台南市安南區工業二路</a:t>
                </a:r>
                <a:r>
                  <a:rPr lang="en-US" altLang="zh-TW" sz="1200" dirty="0"/>
                  <a:t>31</a:t>
                </a:r>
                <a:r>
                  <a:rPr lang="zh-TW" altLang="en-US" sz="1200" dirty="0"/>
                  <a:t>號研究二館</a:t>
                </a:r>
                <a:r>
                  <a:rPr lang="en-US" altLang="zh-TW" sz="1200" dirty="0"/>
                  <a:t>302</a:t>
                </a:r>
                <a:r>
                  <a:rPr lang="zh-TW" altLang="en-US" sz="1200" dirty="0"/>
                  <a:t>室</a:t>
                </a:r>
                <a:endParaRPr lang="ru-RU" sz="1200" dirty="0"/>
              </a:p>
            </p:txBody>
          </p:sp>
          <p:sp>
            <p:nvSpPr>
              <p:cNvPr id="34" name="TextBox 13">
                <a:extLst>
                  <a:ext uri="{FF2B5EF4-FFF2-40B4-BE49-F238E27FC236}">
                    <a16:creationId xmlns:a16="http://schemas.microsoft.com/office/drawing/2014/main" id="{F04E1D10-A03E-4EBD-960F-51DB4B99968D}"/>
                  </a:ext>
                </a:extLst>
              </p:cNvPr>
              <p:cNvSpPr txBox="1"/>
              <p:nvPr/>
            </p:nvSpPr>
            <p:spPr>
              <a:xfrm>
                <a:off x="6375407" y="5313670"/>
                <a:ext cx="20338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Open Sans" panose="020B0606030504020204" pitchFamily="34" charset="0"/>
                  </a:rPr>
                  <a:t>台南設備分部</a:t>
                </a:r>
                <a:endParaRPr lang="ru-RU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B62B1386-111E-4C9F-A52F-A6ABF9CA3637}"/>
                  </a:ext>
                </a:extLst>
              </p:cNvPr>
              <p:cNvSpPr/>
              <p:nvPr/>
            </p:nvSpPr>
            <p:spPr>
              <a:xfrm>
                <a:off x="6375407" y="5912932"/>
                <a:ext cx="1714187" cy="6124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Tel: 886-6-384-0678</a:t>
                </a:r>
                <a:b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Fax: 886-6-384-1299</a:t>
                </a:r>
                <a:endParaRPr lang="zh-TW" altLang="en-US" sz="1200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7A358019-2683-434D-9F3E-32A098E8A809}"/>
                </a:ext>
              </a:extLst>
            </p:cNvPr>
            <p:cNvGrpSpPr/>
            <p:nvPr/>
          </p:nvGrpSpPr>
          <p:grpSpPr>
            <a:xfrm>
              <a:off x="9408368" y="5330437"/>
              <a:ext cx="4521098" cy="1211674"/>
              <a:chOff x="9540444" y="5313670"/>
              <a:chExt cx="4521098" cy="1211674"/>
            </a:xfrm>
          </p:grpSpPr>
          <p:sp>
            <p:nvSpPr>
              <p:cNvPr id="51" name="TextBox 13">
                <a:extLst>
                  <a:ext uri="{FF2B5EF4-FFF2-40B4-BE49-F238E27FC236}">
                    <a16:creationId xmlns:a16="http://schemas.microsoft.com/office/drawing/2014/main" id="{DB486CAE-8F24-413F-A971-A23F0B2E0CE6}"/>
                  </a:ext>
                </a:extLst>
              </p:cNvPr>
              <p:cNvSpPr txBox="1"/>
              <p:nvPr/>
            </p:nvSpPr>
            <p:spPr>
              <a:xfrm>
                <a:off x="9540444" y="5313670"/>
                <a:ext cx="20338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  <a:cs typeface="Open Sans" panose="020B0606030504020204" pitchFamily="34" charset="0"/>
                  </a:rPr>
                  <a:t>高雄設備分部</a:t>
                </a:r>
                <a:endParaRPr lang="ru-RU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  <a:cs typeface="Open Sans" panose="020B0606030504020204" pitchFamily="34" charset="0"/>
                </a:endParaRPr>
              </a:p>
            </p:txBody>
          </p:sp>
          <p:sp>
            <p:nvSpPr>
              <p:cNvPr id="52" name="TextBox 12">
                <a:extLst>
                  <a:ext uri="{FF2B5EF4-FFF2-40B4-BE49-F238E27FC236}">
                    <a16:creationId xmlns:a16="http://schemas.microsoft.com/office/drawing/2014/main" id="{23C4B397-4495-410E-8663-AF350E7FA4D6}"/>
                  </a:ext>
                </a:extLst>
              </p:cNvPr>
              <p:cNvSpPr txBox="1"/>
              <p:nvPr/>
            </p:nvSpPr>
            <p:spPr>
              <a:xfrm>
                <a:off x="9540444" y="5600861"/>
                <a:ext cx="4521098" cy="335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TW"/>
                </a:defPPr>
                <a:lvl1pPr defTabSz="239976">
                  <a:lnSpc>
                    <a:spcPct val="150000"/>
                  </a:lnSpc>
                  <a:defRPr sz="1667" b="1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defRPr>
                </a:lvl1pPr>
              </a:lstStyle>
              <a:p>
                <a:r>
                  <a:rPr lang="zh-TW" altLang="en-US" sz="1200" dirty="0"/>
                  <a:t>高雄市前鎮區復興四路</a:t>
                </a:r>
                <a:r>
                  <a:rPr lang="en-US" altLang="zh-TW" sz="1200" dirty="0"/>
                  <a:t>12</a:t>
                </a:r>
                <a:r>
                  <a:rPr lang="zh-TW" altLang="en-US" sz="1200" dirty="0"/>
                  <a:t>號</a:t>
                </a:r>
                <a:r>
                  <a:rPr lang="en-US" altLang="zh-TW" sz="1200" dirty="0"/>
                  <a:t>10</a:t>
                </a:r>
                <a:r>
                  <a:rPr lang="zh-TW" altLang="en-US" sz="1200" dirty="0"/>
                  <a:t>樓之</a:t>
                </a:r>
                <a:r>
                  <a:rPr lang="en-US" altLang="zh-TW" sz="1200" dirty="0"/>
                  <a:t>5</a:t>
                </a:r>
                <a:endParaRPr lang="zh-TW" altLang="en-US" sz="1200" dirty="0"/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5F12921E-0595-4FC5-AAF1-18489655DE0F}"/>
                  </a:ext>
                </a:extLst>
              </p:cNvPr>
              <p:cNvSpPr/>
              <p:nvPr/>
            </p:nvSpPr>
            <p:spPr>
              <a:xfrm>
                <a:off x="9540444" y="5912932"/>
                <a:ext cx="1714187" cy="6124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Tel: 886-7-537-1919</a:t>
                </a:r>
                <a:b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</a:br>
                <a:r>
                  <a:rPr lang="en-US" altLang="zh-TW" sz="1200" b="1" dirty="0">
                    <a:solidFill>
                      <a:schemeClr val="bg2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Fax: 886-7-537-1616</a:t>
                </a:r>
                <a:endParaRPr lang="zh-TW" altLang="en-US" sz="1200" b="1" dirty="0">
                  <a:solidFill>
                    <a:schemeClr val="bg2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p:grpSp>
      </p:grpSp>
      <p:sp>
        <p:nvSpPr>
          <p:cNvPr id="7" name="圖片版面配置區 6">
            <a:extLst>
              <a:ext uri="{FF2B5EF4-FFF2-40B4-BE49-F238E27FC236}">
                <a16:creationId xmlns:a16="http://schemas.microsoft.com/office/drawing/2014/main" id="{468518FA-E74B-4F4D-BF6F-4054D00BA7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2006291"/>
            <a:ext cx="12192000" cy="3111417"/>
          </a:xfrm>
        </p:spPr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F1631F4-5323-45EE-A6CF-D6FDAEF5C51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1833248"/>
            <a:ext cx="12192000" cy="3284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DGM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27D149B3-0EAB-428F-8E8F-8562B8248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350" y="72333"/>
            <a:ext cx="8448938" cy="717847"/>
          </a:xfrm>
        </p:spPr>
        <p:txBody>
          <a:bodyPr>
            <a:normAutofit/>
          </a:bodyPr>
          <a:lstStyle/>
          <a:p>
            <a:r>
              <a:rPr lang="en-US" altLang="zh-TW" sz="3733" dirty="0"/>
              <a:t>3D</a:t>
            </a:r>
            <a:r>
              <a:rPr lang="zh-TW" altLang="en-US" sz="3733" dirty="0"/>
              <a:t>列印</a:t>
            </a:r>
            <a:r>
              <a:rPr lang="en-US" altLang="zh-TW" sz="3733" dirty="0"/>
              <a:t>-</a:t>
            </a:r>
            <a:r>
              <a:rPr lang="zh-TW" altLang="en-US" sz="3733" dirty="0"/>
              <a:t>材料物性</a:t>
            </a:r>
            <a:r>
              <a:rPr lang="en-US" altLang="zh-TW" sz="3733" dirty="0"/>
              <a:t>-</a:t>
            </a:r>
            <a:r>
              <a:rPr lang="en-US" altLang="zh-TW" sz="3733" dirty="0">
                <a:solidFill>
                  <a:srgbClr val="FFC000"/>
                </a:solidFill>
              </a:rPr>
              <a:t>Tough 2000</a:t>
            </a:r>
            <a:r>
              <a:rPr lang="zh-TW" altLang="en-US" sz="3733" dirty="0">
                <a:solidFill>
                  <a:srgbClr val="FFC000"/>
                </a:solidFill>
              </a:rPr>
              <a:t>材料說明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087DD9FB-4EE2-4F78-AA50-931D04748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8" y="1989956"/>
            <a:ext cx="4090019" cy="3413218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E4AF94E2-B00C-457A-BD1C-BFEE93DD9A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4922" y="1536565"/>
            <a:ext cx="7839466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61296"/>
      </p:ext>
    </p:extLst>
  </p:cSld>
  <p:clrMapOvr>
    <a:masterClrMapping/>
  </p:clrMapOvr>
  <p:transition>
    <p:wipe dir="r"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26324</TotalTime>
  <Words>1338</Words>
  <Application>Microsoft Office PowerPoint</Application>
  <PresentationFormat>寬螢幕</PresentationFormat>
  <Paragraphs>172</Paragraphs>
  <Slides>9</Slides>
  <Notes>7</Notes>
  <HiddenSlides>1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微軟正黑體</vt:lpstr>
      <vt:lpstr>Arial</vt:lpstr>
      <vt:lpstr>Calibri</vt:lpstr>
      <vt:lpstr>Office 佈景主題</vt:lpstr>
      <vt:lpstr>說明頁</vt:lpstr>
      <vt:lpstr>PowerPoint 簡報</vt:lpstr>
      <vt:lpstr>3D列印-導入目標-現狀痛點與導入後改善說明</vt:lpstr>
      <vt:lpstr>3D列印-導入目標-簡化流程</vt:lpstr>
      <vt:lpstr>3D列印-材料物性-White V5材料說明</vt:lpstr>
      <vt:lpstr>3D列印-列印確認-評估標準/時間/材料用量說明</vt:lpstr>
      <vt:lpstr>3D列印-列印確認-尺寸量測結果說明</vt:lpstr>
      <vt:lpstr>3D列印-列印確認-尺寸量測結果說明</vt:lpstr>
      <vt:lpstr>PowerPoint 簡報</vt:lpstr>
    </vt:vector>
  </TitlesOfParts>
  <Company>Test Computer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Test User</dc:creator>
  <cp:lastModifiedBy>實威設備工程-扈師偉|Barry</cp:lastModifiedBy>
  <cp:revision>1138</cp:revision>
  <dcterms:created xsi:type="dcterms:W3CDTF">2010-08-17T03:18:59Z</dcterms:created>
  <dcterms:modified xsi:type="dcterms:W3CDTF">2026-07-17T08:22:55Z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申請人">
    <vt:lpwstr>Neo 施偉朕</vt:lpwstr>
  </property>
  <property fmtid="{D5CDD505-2E9C-101B-9397-08002B2CF9AE}" pid="3" name="Document Number">
    <vt:lpwstr>0013910</vt:lpwstr>
  </property>
</Properties>
</file>